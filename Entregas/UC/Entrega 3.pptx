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2E_599A3B0C.xml" ContentType="application/vnd.ms-powerpoint.comments+xml"/>
  <Override PartName="/ppt/notesSlides/notesSlide3.xml" ContentType="application/vnd.openxmlformats-officedocument.presentationml.notesSlide+xml"/>
  <Override PartName="/ppt/comments/modernComment_12D_558DB916.xml" ContentType="application/vnd.ms-powerpoint.comments+xml"/>
  <Override PartName="/ppt/notesSlides/notesSlide4.xml" ContentType="application/vnd.openxmlformats-officedocument.presentationml.notesSlide+xml"/>
  <Override PartName="/ppt/comments/modernComment_110_83A6EC48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3" r:id="rId1"/>
  </p:sldMasterIdLst>
  <p:notesMasterIdLst>
    <p:notesMasterId r:id="rId15"/>
  </p:notesMasterIdLst>
  <p:handoutMasterIdLst>
    <p:handoutMasterId r:id="rId16"/>
  </p:handoutMasterIdLst>
  <p:sldIdLst>
    <p:sldId id="305" r:id="rId2"/>
    <p:sldId id="302" r:id="rId3"/>
    <p:sldId id="309" r:id="rId4"/>
    <p:sldId id="301" r:id="rId5"/>
    <p:sldId id="272" r:id="rId6"/>
    <p:sldId id="308" r:id="rId7"/>
    <p:sldId id="273" r:id="rId8"/>
    <p:sldId id="314" r:id="rId9"/>
    <p:sldId id="315" r:id="rId10"/>
    <p:sldId id="306" r:id="rId11"/>
    <p:sldId id="318" r:id="rId12"/>
    <p:sldId id="283" r:id="rId13"/>
    <p:sldId id="31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B8D6C189-CBC5-434C-8B8A-1B7C83F66523}">
          <p14:sldIdLst>
            <p14:sldId id="305"/>
          </p14:sldIdLst>
        </p14:section>
        <p14:section name="Presentación" id="{638E7A3F-086E-49F8-9963-E166E048D7EF}">
          <p14:sldIdLst>
            <p14:sldId id="302"/>
            <p14:sldId id="309"/>
          </p14:sldIdLst>
        </p14:section>
        <p14:section name="Problema" id="{36770B6C-990C-452F-A852-D413C0048FFE}">
          <p14:sldIdLst>
            <p14:sldId id="301"/>
          </p14:sldIdLst>
        </p14:section>
        <p14:section name="Datos" id="{997ABD79-BB39-451C-AC7C-6F2FD9DF77B9}">
          <p14:sldIdLst>
            <p14:sldId id="272"/>
          </p14:sldIdLst>
        </p14:section>
        <p14:section name="Solución Propuesta" id="{65D40889-F279-4E01-9918-4C72936BA9BD}">
          <p14:sldIdLst>
            <p14:sldId id="308"/>
          </p14:sldIdLst>
        </p14:section>
        <p14:section name="Solución Propuesta (Outliers)" id="{0C6AC583-512F-4A1B-90B3-7CFBA15658B0}">
          <p14:sldIdLst>
            <p14:sldId id="273"/>
            <p14:sldId id="314"/>
          </p14:sldIdLst>
        </p14:section>
        <p14:section name="Solución Propuesta (Drift)" id="{9C3AAD4B-3A70-43F8-A017-6BD1E4126342}">
          <p14:sldIdLst>
            <p14:sldId id="315"/>
            <p14:sldId id="306"/>
            <p14:sldId id="318"/>
          </p14:sldIdLst>
        </p14:section>
        <p14:section name="Proximos Pasos" id="{E9DBC527-1375-4098-9759-AFDA6E422BD5}">
          <p14:sldIdLst>
            <p14:sldId id="283"/>
            <p14:sldId id="3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465FD63-F91C-AD9C-A710-EEEA23880529}" name="Ziyu Guo ." initials="Z." userId="S::ziyuguo@uc.cl::5d0ee9bc-099e-4375-8de4-b9df224602ff" providerId="AD"/>
  <p188:author id="{76E1BA84-509A-CEFD-2DD6-BB5F7A5237BB}" name="Luis Cristóbal Rojas González" initials="LG" userId="S::luis.rojas@uc.cl::77fcfdbb-4eb8-44ac-acf7-9e4e5cd1838a" providerId="AD"/>
  <p188:author id="{7A9A41B8-83B5-7003-3082-961487D97213}" name="Franco Andrés Chiappe Donoso" initials="FC" userId="S::fchiappe@uc.cl::952ef6fb-7da9-433b-9cb5-ab1c1c91cce3" providerId="AD"/>
  <p188:author id="{A9F27DEE-20FD-0B97-634A-A122D0C9E633}" name="Joaquín Alonso Cabello Parra" initials="JACP" userId="S::jcabelloparra@uc.cl::34b43d23-d1ac-4a0b-8433-f6f5ea75542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334"/>
    <a:srgbClr val="426FBF"/>
    <a:srgbClr val="2AA6DD"/>
    <a:srgbClr val="3F4B55"/>
    <a:srgbClr val="FFFFFF"/>
    <a:srgbClr val="303E48"/>
    <a:srgbClr val="0666BB"/>
    <a:srgbClr val="096ABD"/>
    <a:srgbClr val="0B6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o Andrés Chiappe Donoso" userId="952ef6fb-7da9-433b-9cb5-ab1c1c91cce3" providerId="ADAL" clId="{D482683E-DF45-4BA1-B60E-919AB3CEA91E}"/>
    <pc:docChg chg="undo redo custSel addSld delSld modSld sldOrd delSection modSection">
      <pc:chgData name="Franco Andrés Chiappe Donoso" userId="952ef6fb-7da9-433b-9cb5-ab1c1c91cce3" providerId="ADAL" clId="{D482683E-DF45-4BA1-B60E-919AB3CEA91E}" dt="2025-12-08T17:07:04.142" v="1238" actId="20577"/>
      <pc:docMkLst>
        <pc:docMk/>
      </pc:docMkLst>
      <pc:sldChg chg="addSp modSp mod modNotes">
        <pc:chgData name="Franco Andrés Chiappe Donoso" userId="952ef6fb-7da9-433b-9cb5-ab1c1c91cce3" providerId="ADAL" clId="{D482683E-DF45-4BA1-B60E-919AB3CEA91E}" dt="2025-12-08T17:02:38.567" v="1237" actId="1076"/>
        <pc:sldMkLst>
          <pc:docMk/>
          <pc:sldMk cId="2208754760" sldId="272"/>
        </pc:sldMkLst>
        <pc:picChg chg="mod">
          <ac:chgData name="Franco Andrés Chiappe Donoso" userId="952ef6fb-7da9-433b-9cb5-ab1c1c91cce3" providerId="ADAL" clId="{D482683E-DF45-4BA1-B60E-919AB3CEA91E}" dt="2025-12-08T17:02:38.567" v="1237" actId="1076"/>
          <ac:picMkLst>
            <pc:docMk/>
            <pc:sldMk cId="2208754760" sldId="272"/>
            <ac:picMk id="6" creationId="{AA2B38B9-51DB-DB49-0CCD-A383BA2C7FDC}"/>
          </ac:picMkLst>
        </pc:picChg>
      </pc:sldChg>
      <pc:sldChg chg="addSp delSp modSp mod">
        <pc:chgData name="Franco Andrés Chiappe Donoso" userId="952ef6fb-7da9-433b-9cb5-ab1c1c91cce3" providerId="ADAL" clId="{D482683E-DF45-4BA1-B60E-919AB3CEA91E}" dt="2025-12-08T17:07:04.142" v="1238" actId="20577"/>
        <pc:sldMkLst>
          <pc:docMk/>
          <pc:sldMk cId="1453617272" sldId="273"/>
        </pc:sldMkLst>
        <pc:spChg chg="mod">
          <ac:chgData name="Franco Andrés Chiappe Donoso" userId="952ef6fb-7da9-433b-9cb5-ab1c1c91cce3" providerId="ADAL" clId="{D482683E-DF45-4BA1-B60E-919AB3CEA91E}" dt="2025-12-08T17:07:04.142" v="1238" actId="20577"/>
          <ac:spMkLst>
            <pc:docMk/>
            <pc:sldMk cId="1453617272" sldId="273"/>
            <ac:spMk id="13" creationId="{4FCA1056-F0AA-07E5-60C9-9C6E6D2839AD}"/>
          </ac:spMkLst>
        </pc:spChg>
      </pc:sldChg>
    </pc:docChg>
  </pc:docChgLst>
</pc:chgInfo>
</file>

<file path=ppt/comments/modernComment_12D_558DB91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7E623C-EAD1-4DBA-A2A2-F22436DE13B7}" authorId="{76E1BA84-509A-CEFD-2DD6-BB5F7A5237BB}" created="2025-10-14T12:23:19.940">
    <pc:sldMkLst xmlns:pc="http://schemas.microsoft.com/office/powerpoint/2013/main/command">
      <pc:docMk/>
      <pc:sldMk cId="1435351318" sldId="301"/>
    </pc:sldMkLst>
    <p188:txBody>
      <a:bodyPr/>
      <a:lstStyle/>
      <a:p>
        <a:r>
          <a:rPr lang="en-US"/>
          <a:t>lo mismo aqui</a:t>
        </a:r>
      </a:p>
    </p188:txBody>
  </p188:cm>
  <p188:cm id="{973E605F-4F95-43DB-9723-CF12F3697A57}" authorId="{76E1BA84-509A-CEFD-2DD6-BB5F7A5237BB}" status="resolved" created="2025-10-14T12:23:49.910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435351318" sldId="301"/>
      <ac:spMk id="2" creationId="{5937D349-F3D3-8D07-2B10-26188A94F97B}"/>
      <ac:txMk cp="0">
        <ac:context len="63" hash="2382703556"/>
      </ac:txMk>
    </ac:txMkLst>
    <p188:pos x="8628944" y="84666"/>
    <p188:txBody>
      <a:bodyPr/>
      <a:lstStyle/>
      <a:p>
        <a:r>
          <a:rPr lang="en-US"/>
          <a:t>más corto: "Control manual de datos reduce..."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10-14T12:30:23.866" authorId="{7A9A41B8-83B5-7003-3082-961487D97213}"/>
          </p223:rxn>
        </p223:reactions>
      </p:ext>
    </p188:extLst>
  </p188:cm>
</p188:cmLst>
</file>

<file path=ppt/comments/modernComment_12E_599A3B0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48BDF9C-7EA2-4001-9731-062D63AB5951}" authorId="{76E1BA84-509A-CEFD-2DD6-BB5F7A5237BB}" created="2025-10-14T12:23:12.925">
    <pc:sldMkLst xmlns:pc="http://schemas.microsoft.com/office/powerpoint/2013/main/command">
      <pc:docMk/>
      <pc:sldMk cId="1503279884" sldId="302"/>
    </pc:sldMkLst>
    <p188:txBody>
      <a:bodyPr/>
      <a:lstStyle/>
      <a:p>
        <a:r>
          <a:rPr lang="en-US"/>
          <a:t>Pueden usar material visual para ocupar mejor el espacio blanco que queda abajo</a:t>
        </a:r>
      </a:p>
    </p188:txBody>
  </p188:cm>
</p188:cmLst>
</file>

<file path=ppt/comments/modernComment_110_83A6EC4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47E88D-AD58-E140-A3D3-AECFFFC50186}" authorId="{A9F27DEE-20FD-0B97-634A-A122D0C9E633}" status="resolved" created="2025-10-14T12:39:10.100" complete="100000">
    <pc:sldMkLst xmlns:pc="http://schemas.microsoft.com/office/powerpoint/2013/main/command">
      <pc:docMk/>
      <pc:sldMk cId="2208754760" sldId="272"/>
    </pc:sldMkLst>
    <p188:txBody>
      <a:bodyPr/>
      <a:lstStyle/>
      <a:p>
        <a:r>
          <a:rPr lang="en-US"/>
          <a:t>demasiado texto redundante, aprovechen el elemento visual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563EEC-BD9B-65E1-CDED-B363F1CEC2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8A4B12-06A8-271C-646C-D62A223DA5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AFF5F3-38AF-4FFD-8332-920448D4C08C}" type="datetimeFigureOut">
              <a:rPr lang="es-CL" smtClean="0"/>
              <a:t>08-12-2025</a:t>
            </a:fld>
            <a:endParaRPr lang="es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1E8E6B-0B4E-678C-4FF4-2EB1C3BF7A5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B0E9D-FC81-6AD0-C941-454255BA20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DC0FE3-D2EF-4B8D-BECD-9E657E106B7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47618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E0C773-1EBF-4445-96D5-9CDB7DE9012C}" type="datetimeFigureOut">
              <a:rPr lang="es-CL" smtClean="0"/>
              <a:t>07-12-2025</a:t>
            </a:fld>
            <a:endParaRPr lang="es-C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452814-0D18-4CD3-91F9-34B0161C624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51734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18B9D-8EE9-4441-3468-1E9FC1492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4898E-3A74-070A-BFF0-352591129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D5A4D2-AF1C-6EB1-0D24-321CDC920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3A7C4-2818-9F81-A706-2B13369D6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8320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F817F-F401-AC74-C7BB-C911B8C48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0A996D-2623-4C77-A3CF-D5F8E8DA3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1CFBE1-AEE3-0A72-213B-FADD46773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La falta de control continuo en la calidad de los datos impacta directamente en la eficiencia y el costo de operación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2AE50-7E76-F35B-D739-1FB5E0CED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3899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/>
              <a:t>La falta de control continuo en la calidad de los datos impacta directamente en la eficiencia y el costo de operación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30319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32584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4361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18301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03162-2AA2-2035-C28E-0C7655D41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07E24-8ACC-0FA9-3385-7CAA45A80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A7C58-459E-DF9A-01FB-D11ACEC38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7E68C-2419-0ABB-1651-D3A4285CE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1711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52350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4252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A74AF-F109-3473-B621-8F5E5FC15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05262E-6319-BAC2-20DF-01AC0E23A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F71C5-F218-FB06-64C6-5D80C7190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32559-5A00-7512-C853-A35CD8EB1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452814-0D18-4CD3-91F9-34B0161C6244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4769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0B06A26-47F9-7C23-7B36-61DBD1B388CA}"/>
              </a:ext>
            </a:extLst>
          </p:cNvPr>
          <p:cNvSpPr txBox="1">
            <a:spLocks/>
          </p:cNvSpPr>
          <p:nvPr userDrawn="1"/>
        </p:nvSpPr>
        <p:spPr>
          <a:xfrm>
            <a:off x="1219724" y="3429000"/>
            <a:ext cx="9440034" cy="1017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s-CL" sz="4600" b="1">
              <a:solidFill>
                <a:srgbClr val="303E48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00375C9-C882-9CC3-043E-7830244FCE32}"/>
              </a:ext>
            </a:extLst>
          </p:cNvPr>
          <p:cNvSpPr txBox="1">
            <a:spLocks/>
          </p:cNvSpPr>
          <p:nvPr userDrawn="1"/>
        </p:nvSpPr>
        <p:spPr>
          <a:xfrm>
            <a:off x="1375983" y="4906292"/>
            <a:ext cx="9440034" cy="6524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L" sz="1800">
              <a:solidFill>
                <a:srgbClr val="00AFE3"/>
              </a:solidFill>
            </a:endParaRP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089E6D1-FBC3-1DB0-8AEB-C8B35D6D6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124" y="704499"/>
            <a:ext cx="11029616" cy="11895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46356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232914"/>
            <a:ext cx="11309338" cy="15707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019" y="511410"/>
            <a:ext cx="11029616" cy="1013800"/>
          </a:xfrm>
        </p:spPr>
        <p:txBody>
          <a:bodyPr anchor="ctr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anchor="t"/>
          <a:lstStyle>
            <a:lvl1pPr algn="just">
              <a:lnSpc>
                <a:spcPct val="150000"/>
              </a:lnSpc>
              <a:defRPr>
                <a:latin typeface="+mj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71446" y="6138699"/>
            <a:ext cx="2844799" cy="365125"/>
          </a:xfrm>
        </p:spPr>
        <p:txBody>
          <a:bodyPr/>
          <a:lstStyle/>
          <a:p>
            <a:fld id="{85C868CF-7313-433E-B140-7E0A6D05BA41}" type="datetimeFigureOut">
              <a:rPr lang="es-CL" smtClean="0"/>
              <a:t>07-12-2025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2181" y="6138699"/>
            <a:ext cx="6917210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4032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99E09-CC47-95E7-EBA9-7ECFF67E8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29613C-8E9E-F29A-BD9F-15FE9E952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07-12-2025</a:t>
            </a:fld>
            <a:endParaRPr lang="es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48450-3203-6216-5F2A-D2F5D4FD9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891DFA-A6B7-F3BA-F3CB-FB96EC0D3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7894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5C868CF-7313-433E-B140-7E0A6D05BA41}" type="datetimeFigureOut">
              <a:rPr lang="es-CL" smtClean="0"/>
              <a:t>07-12-2025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59454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07-12-2025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3323AB-41F9-BAA7-5EEA-C50BC4F38F9A}"/>
              </a:ext>
            </a:extLst>
          </p:cNvPr>
          <p:cNvSpPr>
            <a:spLocks noChangeAspect="1"/>
          </p:cNvSpPr>
          <p:nvPr userDrawn="1"/>
        </p:nvSpPr>
        <p:spPr>
          <a:xfrm>
            <a:off x="440286" y="232914"/>
            <a:ext cx="11309338" cy="15707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23744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07-12-2025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3074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07-12-2025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97060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07-12-2025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1407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5C868CF-7313-433E-B140-7E0A6D05BA41}" type="datetimeFigureOut">
              <a:rPr lang="es-CL" smtClean="0"/>
              <a:t>07-12-2025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5761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07-12-2025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91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868CF-7313-433E-B140-7E0A6D05BA41}" type="datetimeFigureOut">
              <a:rPr lang="es-CL" smtClean="0"/>
              <a:t>07-12-2025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13629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5C868CF-7313-433E-B140-7E0A6D05BA41}" type="datetimeFigureOut">
              <a:rPr lang="es-CL" smtClean="0"/>
              <a:t>07-12-2025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88463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5C868CF-7313-433E-B140-7E0A6D05BA41}" type="datetimeFigureOut">
              <a:rPr lang="es-CL" smtClean="0"/>
              <a:t>07-12-2025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E69AC8A-234F-4CDA-B6BA-EF227A7B1551}" type="slidenum">
              <a:rPr lang="es-CL" smtClean="0"/>
              <a:t>‹#›</a:t>
            </a:fld>
            <a:endParaRPr lang="es-CL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8774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4" r:id="rId1"/>
    <p:sldLayoutId id="2147484055" r:id="rId2"/>
    <p:sldLayoutId id="2147484065" r:id="rId3"/>
    <p:sldLayoutId id="2147484056" r:id="rId4"/>
    <p:sldLayoutId id="2147484057" r:id="rId5"/>
    <p:sldLayoutId id="2147484058" r:id="rId6"/>
    <p:sldLayoutId id="2147484059" r:id="rId7"/>
    <p:sldLayoutId id="2147484060" r:id="rId8"/>
    <p:sldLayoutId id="2147484061" r:id="rId9"/>
    <p:sldLayoutId id="2147484062" r:id="rId10"/>
    <p:sldLayoutId id="2147484063" r:id="rId11"/>
    <p:sldLayoutId id="2147484064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E_599A3B0C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D_558DB91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0_83A6EC4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F5261B-1E4E-BEA5-7E61-0012FF127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0AE6E20-272B-4965-A636-4C47C90BB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454EC2-1493-F15B-2A88-D5B0AA9844BC}"/>
              </a:ext>
            </a:extLst>
          </p:cNvPr>
          <p:cNvSpPr txBox="1"/>
          <p:nvPr/>
        </p:nvSpPr>
        <p:spPr>
          <a:xfrm>
            <a:off x="581191" y="4174315"/>
            <a:ext cx="10993549" cy="10668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4000" b="1"/>
              <a:t>Optimización de modelos predictivos mediante detección de outliers y drift</a:t>
            </a:r>
            <a:endParaRPr lang="en-US" sz="4000" b="1" cap="all" noProof="0">
              <a:ln w="3175" cmpd="sng">
                <a:noFill/>
              </a:ln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BF3F8-6A2D-6314-A70D-F0D60EAD9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67" y="5444479"/>
            <a:ext cx="10993546" cy="52556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CL" sz="1000"/>
              <a:t>Proyecto de Grado Licenciatura en Ingeniería en Ciencia de Datos</a:t>
            </a:r>
          </a:p>
          <a:p>
            <a:pPr algn="ctr">
              <a:lnSpc>
                <a:spcPct val="90000"/>
              </a:lnSpc>
            </a:pPr>
            <a:r>
              <a:rPr lang="en-US" sz="1000" noProof="0"/>
              <a:t>Franco Chiappe</a:t>
            </a:r>
            <a:endParaRPr lang="en-US" sz="10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</a:endParaRPr>
          </a:p>
          <a:p>
            <a:pPr algn="ctr">
              <a:lnSpc>
                <a:spcPct val="90000"/>
              </a:lnSpc>
            </a:pPr>
            <a:r>
              <a:rPr lang="en-US" sz="1000" noProof="0"/>
              <a:t>Vicente Garay</a:t>
            </a:r>
            <a:endParaRPr lang="en-US" sz="10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</a:endParaRPr>
          </a:p>
          <a:p>
            <a:pPr algn="ctr">
              <a:lnSpc>
                <a:spcPct val="90000"/>
              </a:lnSpc>
            </a:pPr>
            <a:r>
              <a:rPr lang="en-US" sz="1000" noProof="0"/>
              <a:t>Ziyu Guo</a:t>
            </a:r>
          </a:p>
        </p:txBody>
      </p:sp>
      <p:pic>
        <p:nvPicPr>
          <p:cNvPr id="2" name="图片 2" descr="Ainwater - BlueTech Research">
            <a:extLst>
              <a:ext uri="{FF2B5EF4-FFF2-40B4-BE49-F238E27FC236}">
                <a16:creationId xmlns:a16="http://schemas.microsoft.com/office/drawing/2014/main" id="{52238C76-54F7-44F0-A407-24432A21F7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87" y="723900"/>
            <a:ext cx="10150226" cy="299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429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CA6CA-C27E-3A4F-5EE6-2CE9A248B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B04BF-FBB0-590D-5E8D-127AECABB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sz="2800"/>
              <a:t>INTELIGENCIA ARTIFICIAL PARA UNA GESTIÓN EFICIENTE Y SOSTENIBLE DEL AGUA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5A23D5A-DE76-E82E-39D7-F04EC43E7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2540360"/>
          </a:xfr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pPr marL="305435" indent="-305435"/>
            <a:r>
              <a:rPr lang="es-CL">
                <a:solidFill>
                  <a:srgbClr val="3F4B55"/>
                </a:solidFill>
              </a:rPr>
              <a:t>Desarrolla software como servicio (SaaS) para optimización de plantas de tratamiento de aguas</a:t>
            </a:r>
            <a:endParaRPr lang="zh-CN">
              <a:ea typeface="华文中宋"/>
            </a:endParaRPr>
          </a:p>
          <a:p>
            <a:pPr marL="305435" indent="-305435"/>
            <a:r>
              <a:rPr lang="es-CL"/>
              <a:t>Su tecnología se implementa en plantas que procesan más de un millón de m³ diarios</a:t>
            </a:r>
            <a:endParaRPr lang="es-CL">
              <a:solidFill>
                <a:srgbClr val="3F4B55"/>
              </a:solidFill>
            </a:endParaRPr>
          </a:p>
          <a:p>
            <a:pPr marL="305435" indent="-305435"/>
            <a:r>
              <a:rPr lang="es-CL"/>
              <a:t>Aplicaciones en agua potable, aguas residuales, desalinización, manufactura y comunidades rurales</a:t>
            </a:r>
          </a:p>
          <a:p>
            <a:pPr marL="305435" indent="-305435"/>
            <a:r>
              <a:rPr lang="es-CL"/>
              <a:t>Su plataforma Poseidón ya opera en más de 100 plantas y ha logrado reducir hasta un 30 % los costos operacionales</a:t>
            </a:r>
          </a:p>
          <a:p>
            <a:pPr marL="305435" indent="-305435"/>
            <a:endParaRPr lang="es-CL"/>
          </a:p>
        </p:txBody>
      </p:sp>
      <p:sp>
        <p:nvSpPr>
          <p:cNvPr id="3" name="AutoShape 2" descr="Investigación reciente muestra cómo la inteligencia artificial optimiza la  gestión del agua – El blog de Víctor Yepes">
            <a:extLst>
              <a:ext uri="{FF2B5EF4-FFF2-40B4-BE49-F238E27FC236}">
                <a16:creationId xmlns:a16="http://schemas.microsoft.com/office/drawing/2014/main" id="{83AE7620-D223-EDD1-B48D-599F9FDDBD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FDD230-9297-89A9-1083-C732A196E681}"/>
              </a:ext>
            </a:extLst>
          </p:cNvPr>
          <p:cNvSpPr txBox="1"/>
          <p:nvPr/>
        </p:nvSpPr>
        <p:spPr>
          <a:xfrm>
            <a:off x="3255109" y="4689340"/>
            <a:ext cx="12878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1 Millón m³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983D99-4283-F165-8C2F-213CE62D3D4F}"/>
              </a:ext>
            </a:extLst>
          </p:cNvPr>
          <p:cNvSpPr txBox="1"/>
          <p:nvPr/>
        </p:nvSpPr>
        <p:spPr>
          <a:xfrm>
            <a:off x="7184791" y="4702474"/>
            <a:ext cx="2428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400 Piscinas Olímpicas</a:t>
            </a:r>
          </a:p>
        </p:txBody>
      </p:sp>
      <p:pic>
        <p:nvPicPr>
          <p:cNvPr id="25" name="Picture 10" descr="Tokio inaugura su flamante centro acuático para los Juegos Olímpicos">
            <a:extLst>
              <a:ext uri="{FF2B5EF4-FFF2-40B4-BE49-F238E27FC236}">
                <a16:creationId xmlns:a16="http://schemas.microsoft.com/office/drawing/2014/main" id="{1DDD4C1F-D94C-98C2-F569-3C7D589493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00" t="43236" r="11382"/>
          <a:stretch>
            <a:fillRect/>
          </a:stretch>
        </p:blipFill>
        <p:spPr bwMode="auto">
          <a:xfrm>
            <a:off x="6864539" y="5078906"/>
            <a:ext cx="3068678" cy="1474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Equals 28">
            <a:extLst>
              <a:ext uri="{FF2B5EF4-FFF2-40B4-BE49-F238E27FC236}">
                <a16:creationId xmlns:a16="http://schemas.microsoft.com/office/drawing/2014/main" id="{371F8149-79BD-D771-985A-1C532C8912FD}"/>
              </a:ext>
            </a:extLst>
          </p:cNvPr>
          <p:cNvSpPr/>
          <p:nvPr/>
        </p:nvSpPr>
        <p:spPr>
          <a:xfrm>
            <a:off x="5486400" y="5293752"/>
            <a:ext cx="914400" cy="914400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solidFill>
                <a:schemeClr val="tx1"/>
              </a:solidFill>
            </a:endParaRPr>
          </a:p>
        </p:txBody>
      </p:sp>
      <p:pic>
        <p:nvPicPr>
          <p:cNvPr id="1026" name="Picture 2" descr="Valoremos el agua - Santo Tomás en Línea">
            <a:extLst>
              <a:ext uri="{FF2B5EF4-FFF2-40B4-BE49-F238E27FC236}">
                <a16:creationId xmlns:a16="http://schemas.microsoft.com/office/drawing/2014/main" id="{0A825D96-E9C1-CEF6-FFDD-F0ACF50DEE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5024" y="5071806"/>
            <a:ext cx="2367999" cy="1479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327988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256;p2">
            <a:extLst>
              <a:ext uri="{FF2B5EF4-FFF2-40B4-BE49-F238E27FC236}">
                <a16:creationId xmlns:a16="http://schemas.microsoft.com/office/drawing/2014/main" id="{BB27272B-A930-9C96-EE47-593FC3CA9C5D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29248" y="2670016"/>
            <a:ext cx="4095834" cy="253641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itle 1">
            <a:extLst>
              <a:ext uri="{FF2B5EF4-FFF2-40B4-BE49-F238E27FC236}">
                <a16:creationId xmlns:a16="http://schemas.microsoft.com/office/drawing/2014/main" id="{5D9921EE-2028-0F34-2466-DE95E8B57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019" y="511410"/>
            <a:ext cx="11029616" cy="1013800"/>
          </a:xfrm>
        </p:spPr>
        <p:txBody>
          <a:bodyPr>
            <a:noAutofit/>
          </a:bodyPr>
          <a:lstStyle/>
          <a:p>
            <a:r>
              <a:rPr lang="es-CL" sz="2800">
                <a:solidFill>
                  <a:srgbClr val="FFFFFF"/>
                </a:solidFill>
              </a:rPr>
              <a:t>Optimizar, predecir y controlar una planta de agua</a:t>
            </a:r>
            <a:endParaRPr lang="es-CL" sz="2800"/>
          </a:p>
        </p:txBody>
      </p:sp>
      <p:sp>
        <p:nvSpPr>
          <p:cNvPr id="45" name="Content Placeholder 4">
            <a:extLst>
              <a:ext uri="{FF2B5EF4-FFF2-40B4-BE49-F238E27FC236}">
                <a16:creationId xmlns:a16="http://schemas.microsoft.com/office/drawing/2014/main" id="{37BA99A1-0FDF-2266-A615-5B5470418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755273" cy="3571718"/>
          </a:xfr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CL"/>
              <a:t>Integra monitoreo, análisis y control en tiempo real</a:t>
            </a:r>
          </a:p>
          <a:p>
            <a:r>
              <a:rPr lang="es-CL"/>
              <a:t>Centraliza la información de sensores, alarmas y reportes operativos</a:t>
            </a:r>
          </a:p>
          <a:p>
            <a:r>
              <a:rPr lang="es-CL"/>
              <a:t>Genera alertas automáticas ante valores fuera de rango o fallas de registro </a:t>
            </a:r>
          </a:p>
          <a:p>
            <a:r>
              <a:rPr lang="es-CL"/>
              <a:t>Permite decisiones basadas en datos, optimizando la operación de las plantas </a:t>
            </a:r>
          </a:p>
          <a:p>
            <a:pPr marL="305435" indent="-305435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03496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distribution curve&#10;&#10;AI-generated content may be incorrect.">
            <a:extLst>
              <a:ext uri="{FF2B5EF4-FFF2-40B4-BE49-F238E27FC236}">
                <a16:creationId xmlns:a16="http://schemas.microsoft.com/office/drawing/2014/main" id="{99B7BCD6-B929-AD11-51D2-5277878FD8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7" r="9534"/>
          <a:stretch>
            <a:fillRect/>
          </a:stretch>
        </p:blipFill>
        <p:spPr>
          <a:xfrm>
            <a:off x="8001834" y="2110922"/>
            <a:ext cx="3114990" cy="21935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37D349-F3D3-8D07-2B10-26188A94F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sz="2800"/>
              <a:t>CONTROL MANUAL DE DATOS AFECTA LA CONFIABILIDAD DE LOS MODELOS</a:t>
            </a:r>
          </a:p>
        </p:txBody>
      </p:sp>
      <p:pic>
        <p:nvPicPr>
          <p:cNvPr id="5130" name="Picture 10" descr="What is Machine Learning? - Let's Talk Science">
            <a:extLst>
              <a:ext uri="{FF2B5EF4-FFF2-40B4-BE49-F238E27FC236}">
                <a16:creationId xmlns:a16="http://schemas.microsoft.com/office/drawing/2014/main" id="{5D19D530-39CF-4A95-16AE-D7441DF086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708"/>
          <a:stretch>
            <a:fillRect/>
          </a:stretch>
        </p:blipFill>
        <p:spPr bwMode="auto">
          <a:xfrm>
            <a:off x="8348756" y="4019647"/>
            <a:ext cx="2421146" cy="1919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E88CA7DA-E5A8-E119-CD47-9E027147249A}"/>
              </a:ext>
            </a:extLst>
          </p:cNvPr>
          <p:cNvSpPr txBox="1">
            <a:spLocks/>
          </p:cNvSpPr>
          <p:nvPr/>
        </p:nvSpPr>
        <p:spPr>
          <a:xfrm>
            <a:off x="581192" y="2180496"/>
            <a:ext cx="6755273" cy="3571718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306000" indent="-306000" algn="just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30000" indent="-306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/>
              <a:t>El control de calidad de los datos es actualmente manual y reactivo</a:t>
            </a:r>
          </a:p>
          <a:p>
            <a:r>
              <a:rPr lang="es-CL"/>
              <a:t>No existen sistemas automáticos para detectar anomalías o </a:t>
            </a:r>
            <a:r>
              <a:rPr lang="es-CL" err="1"/>
              <a:t>drift</a:t>
            </a:r>
            <a:r>
              <a:rPr lang="es-CL"/>
              <a:t> en los sensores</a:t>
            </a:r>
          </a:p>
          <a:p>
            <a:r>
              <a:rPr lang="es-CL"/>
              <a:t>En la práctica, los modelos pierden precisión y requieren reentrenamientos frecuentes</a:t>
            </a:r>
          </a:p>
          <a:p>
            <a:r>
              <a:rPr lang="es-CL"/>
              <a:t>Esto genera menor confiabilidad en los modelos predictivos y mayores costos operativos</a:t>
            </a:r>
          </a:p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53513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82A4A-8CAF-9DE4-3B6F-2AD1DC69B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s-CL" sz="2800" dirty="0"/>
              <a:t>DATOS: SERIES DE TIEMPO MULTIVARIABLES DE SENSORES EN PLANTAS DE TRATAMIENTO</a:t>
            </a:r>
            <a:endParaRPr lang="es-CL" sz="2800" b="1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3DB8F-F650-2650-3478-AD025A8F6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3200" y="2109882"/>
            <a:ext cx="4965566" cy="4110182"/>
          </a:xfrm>
          <a:ln w="12700">
            <a:solidFill>
              <a:schemeClr val="tx1"/>
            </a:solidFill>
          </a:ln>
        </p:spPr>
        <p:txBody>
          <a:bodyPr anchor="t">
            <a:normAutofit/>
          </a:bodyPr>
          <a:lstStyle/>
          <a:p>
            <a:pPr marL="305435" indent="-305435"/>
            <a:r>
              <a:rPr lang="es-CL" noProof="0" dirty="0"/>
              <a:t>Los datos presentan variabilidad entre plantas y sensores, lo que exige ajustar los modelos por tipo de variable y contexto operativo</a:t>
            </a:r>
          </a:p>
          <a:p>
            <a:pPr marL="305435" indent="-305435"/>
            <a:r>
              <a:rPr lang="es-CL" noProof="0" dirty="0"/>
              <a:t>Se trabaja con series de tiempo minuto a minuto, lo que permite un monitoreo continuo y una respuesta temprana ante desviaciones.</a:t>
            </a:r>
          </a:p>
          <a:p>
            <a:pPr marL="305435" indent="-305435"/>
            <a:r>
              <a:rPr lang="es-CL" noProof="0" dirty="0"/>
              <a:t>Contamos con datos etiquetados manualmente por nosotros para entrenar y validar los modelos de detección de </a:t>
            </a:r>
            <a:r>
              <a:rPr lang="es-CL" noProof="0" dirty="0" err="1"/>
              <a:t>outliers</a:t>
            </a:r>
            <a:r>
              <a:rPr lang="es-CL" noProof="0" dirty="0"/>
              <a:t>.</a:t>
            </a:r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AA2B38B9-51DB-DB49-0CCD-A383BA2C7F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807"/>
          <a:stretch>
            <a:fillRect/>
          </a:stretch>
        </p:blipFill>
        <p:spPr>
          <a:xfrm>
            <a:off x="479137" y="2251363"/>
            <a:ext cx="5930542" cy="411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7547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55FB-3F5A-5F02-A04F-1B63CFDD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/>
              <a:t>SISTEMA AUTOMÁTICO PARA EVALUAR LA CALIDAD DE DATOS Y MEJORAR LA CONFIABILIDAD DE LOS MODELOS</a:t>
            </a:r>
          </a:p>
        </p:txBody>
      </p:sp>
      <p:sp>
        <p:nvSpPr>
          <p:cNvPr id="4" name="Content Placeholder 16">
            <a:extLst>
              <a:ext uri="{FF2B5EF4-FFF2-40B4-BE49-F238E27FC236}">
                <a16:creationId xmlns:a16="http://schemas.microsoft.com/office/drawing/2014/main" id="{16CDA68E-5988-A924-A172-CC11EA30E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600" y="2181600"/>
            <a:ext cx="5742330" cy="3992059"/>
          </a:xfrm>
          <a:ln w="12700">
            <a:solidFill>
              <a:schemeClr val="tx1">
                <a:lumMod val="50000"/>
              </a:schemeClr>
            </a:solidFill>
          </a:ln>
        </p:spPr>
        <p:txBody>
          <a:bodyPr anchor="t">
            <a:noAutofit/>
          </a:bodyPr>
          <a:lstStyle/>
          <a:p>
            <a:pPr marL="305435" indent="-305435" algn="just"/>
            <a:r>
              <a:rPr lang="es-CL"/>
              <a:t>Desarrollamos un sistema que evalúa automáticamente la calidad de los datos de sensores, anomalías (</a:t>
            </a:r>
            <a:r>
              <a:rPr lang="es-CL" err="1"/>
              <a:t>outliers</a:t>
            </a:r>
            <a:r>
              <a:rPr lang="es-CL"/>
              <a:t>) y cambios de distribución (</a:t>
            </a:r>
            <a:r>
              <a:rPr lang="es-CL" err="1"/>
              <a:t>drift</a:t>
            </a:r>
            <a:r>
              <a:rPr lang="es-CL"/>
              <a:t>)</a:t>
            </a:r>
            <a:endParaRPr lang="zh-CN" altLang="en-US"/>
          </a:p>
          <a:p>
            <a:pPr marL="305435" indent="-305435" algn="just"/>
            <a:r>
              <a:rPr lang="es-CL"/>
              <a:t>El modelo se ejecuta por variable y por planta, analizando las series de tiempo y entregando indicadores de calidad</a:t>
            </a:r>
          </a:p>
          <a:p>
            <a:pPr marL="305435" indent="-305435" algn="just"/>
            <a:r>
              <a:rPr lang="es-CL"/>
              <a:t>El monitoreo de </a:t>
            </a:r>
            <a:r>
              <a:rPr lang="es-CL" err="1"/>
              <a:t>drift</a:t>
            </a:r>
            <a:r>
              <a:rPr lang="es-CL"/>
              <a:t> permite anticipar desajustes en los modelos predictivos, evitando pérdida de precisión y reentrenamientos innecesarios</a:t>
            </a:r>
            <a:endParaRPr lang="es-CL" noProof="0"/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157650D1-C1D1-B421-5DD9-6E0C401C990C}"/>
              </a:ext>
            </a:extLst>
          </p:cNvPr>
          <p:cNvSpPr txBox="1">
            <a:spLocks/>
          </p:cNvSpPr>
          <p:nvPr/>
        </p:nvSpPr>
        <p:spPr>
          <a:xfrm>
            <a:off x="6602819" y="2181601"/>
            <a:ext cx="5007989" cy="3992058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  <p:txBody>
          <a:bodyPr anchor="t"/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s-CL"/>
              <a:t>Impacto del monitoreo de Drift en los modelos predictivos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endParaRPr lang="es-CL"/>
          </a:p>
          <a:p>
            <a:pPr algn="ctr"/>
            <a:endParaRPr lang="es-CL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15E8F8E-3D06-06D0-1475-0EE5E2EDC2FF}"/>
              </a:ext>
            </a:extLst>
          </p:cNvPr>
          <p:cNvSpPr/>
          <p:nvPr/>
        </p:nvSpPr>
        <p:spPr>
          <a:xfrm>
            <a:off x="6744804" y="5444060"/>
            <a:ext cx="2264054" cy="55528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Menor Perdida de </a:t>
            </a:r>
            <a:r>
              <a:rPr lang="en-US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Precisión</a:t>
            </a:r>
            <a:endParaRPr lang="es-CL" b="1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63146C7-BFF8-EBC7-4FE8-5C9C34D0C7AD}"/>
              </a:ext>
            </a:extLst>
          </p:cNvPr>
          <p:cNvSpPr/>
          <p:nvPr/>
        </p:nvSpPr>
        <p:spPr>
          <a:xfrm>
            <a:off x="7940418" y="4240515"/>
            <a:ext cx="2264055" cy="55528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Menos Retraining de </a:t>
            </a:r>
            <a:r>
              <a:rPr lang="en-US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Modelos</a:t>
            </a:r>
            <a:endParaRPr lang="es-CL" b="1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07E6C1C-5DDD-B1A3-9FE4-EEBA712518F8}"/>
              </a:ext>
            </a:extLst>
          </p:cNvPr>
          <p:cNvSpPr/>
          <p:nvPr/>
        </p:nvSpPr>
        <p:spPr>
          <a:xfrm>
            <a:off x="9181747" y="5444061"/>
            <a:ext cx="2281202" cy="55528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Menor </a:t>
            </a:r>
            <a:r>
              <a:rPr lang="en-US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costo</a:t>
            </a:r>
            <a:r>
              <a:rPr lang="en-US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de </a:t>
            </a:r>
            <a:r>
              <a:rPr lang="en-US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Mantenimiento</a:t>
            </a:r>
            <a:endParaRPr lang="es-CL" b="1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D5966F6-2182-B16E-EC90-D6AC1968CEAB}"/>
              </a:ext>
            </a:extLst>
          </p:cNvPr>
          <p:cNvSpPr/>
          <p:nvPr/>
        </p:nvSpPr>
        <p:spPr>
          <a:xfrm>
            <a:off x="7969813" y="3020330"/>
            <a:ext cx="2264055" cy="551407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Monitoreo</a:t>
            </a:r>
            <a:r>
              <a:rPr lang="en-US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de Drift</a:t>
            </a:r>
            <a:endParaRPr lang="es-CL" b="1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4A107E1E-199D-8EF5-A2DA-BFE6976BFE45}"/>
              </a:ext>
            </a:extLst>
          </p:cNvPr>
          <p:cNvSpPr/>
          <p:nvPr/>
        </p:nvSpPr>
        <p:spPr>
          <a:xfrm>
            <a:off x="8751481" y="3618370"/>
            <a:ext cx="641927" cy="589641"/>
          </a:xfrm>
          <a:prstGeom prst="downArrow">
            <a:avLst/>
          </a:prstGeom>
          <a:solidFill>
            <a:srgbClr val="2AA6DD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62AA3CF-87FB-106B-92B2-105BC6313923}"/>
              </a:ext>
            </a:extLst>
          </p:cNvPr>
          <p:cNvSpPr/>
          <p:nvPr/>
        </p:nvSpPr>
        <p:spPr>
          <a:xfrm rot="2239025">
            <a:off x="8317494" y="4854680"/>
            <a:ext cx="641927" cy="589641"/>
          </a:xfrm>
          <a:prstGeom prst="downArrow">
            <a:avLst/>
          </a:prstGeom>
          <a:solidFill>
            <a:srgbClr val="2AA6DD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40EF76C-6D12-D8E9-E407-C8E075D10777}"/>
              </a:ext>
            </a:extLst>
          </p:cNvPr>
          <p:cNvSpPr/>
          <p:nvPr/>
        </p:nvSpPr>
        <p:spPr>
          <a:xfrm rot="19141279">
            <a:off x="9341733" y="4841791"/>
            <a:ext cx="641927" cy="589641"/>
          </a:xfrm>
          <a:prstGeom prst="downArrow">
            <a:avLst/>
          </a:prstGeom>
          <a:solidFill>
            <a:srgbClr val="2AA6DD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L" b="1"/>
          </a:p>
        </p:txBody>
      </p:sp>
    </p:spTree>
    <p:extLst>
      <p:ext uri="{BB962C8B-B14F-4D97-AF65-F5344CB8AC3E}">
        <p14:creationId xmlns:p14="http://schemas.microsoft.com/office/powerpoint/2010/main" val="1742696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Marcador de contenido 3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3694BC21-9FB2-3CFF-877A-5F7A32AD55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5" b="1782"/>
          <a:stretch>
            <a:fillRect/>
          </a:stretch>
        </p:blipFill>
        <p:spPr>
          <a:xfrm>
            <a:off x="6478607" y="3292606"/>
            <a:ext cx="4971346" cy="230111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2D0EA-90D1-BC37-B26E-AF8CE5AEA1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1" y="2181600"/>
            <a:ext cx="5422390" cy="3740177"/>
          </a:xfrm>
          <a:ln>
            <a:solidFill>
              <a:schemeClr val="tx1">
                <a:lumMod val="50000"/>
              </a:schemeClr>
            </a:solidFill>
          </a:ln>
        </p:spPr>
        <p:txBody>
          <a:bodyPr anchor="t"/>
          <a:lstStyle/>
          <a:p>
            <a:pPr marL="305435" indent="-305435">
              <a:lnSpc>
                <a:spcPct val="150000"/>
              </a:lnSpc>
            </a:pPr>
            <a:r>
              <a:rPr lang="es-CL"/>
              <a:t>Diferenciación estadística, para identificar variaciones bruscas respecto al histórico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11C5F-0E93-1E2D-2BB4-5CF0B80858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21" y="2181600"/>
            <a:ext cx="5421600" cy="3740177"/>
          </a:xfrm>
          <a:ln>
            <a:solidFill>
              <a:schemeClr val="tx1">
                <a:lumMod val="50000"/>
              </a:schemeClr>
            </a:solidFill>
          </a:ln>
        </p:spPr>
        <p:txBody>
          <a:bodyPr anchor="t"/>
          <a:lstStyle/>
          <a:p>
            <a:pPr marL="305435" indent="-305435">
              <a:lnSpc>
                <a:spcPct val="150000"/>
              </a:lnSpc>
            </a:pPr>
            <a:r>
              <a:rPr lang="es-CL"/>
              <a:t>Modelos AR(2), que aprenden patrones temporales y marcan desviaciones significativas como </a:t>
            </a:r>
            <a:r>
              <a:rPr lang="es-CL" err="1"/>
              <a:t>outliers</a:t>
            </a:r>
            <a:endParaRPr lang="es-CL"/>
          </a:p>
          <a:p>
            <a:pPr marL="305435" indent="-305435">
              <a:lnSpc>
                <a:spcPct val="150000"/>
              </a:lnSpc>
            </a:pPr>
            <a:endParaRPr lang="es-CL" i="1"/>
          </a:p>
          <a:p>
            <a:pPr marL="0" indent="0">
              <a:lnSpc>
                <a:spcPct val="150000"/>
              </a:lnSpc>
              <a:buNone/>
            </a:pPr>
            <a:endParaRPr lang="es-CL"/>
          </a:p>
        </p:txBody>
      </p:sp>
      <p:pic>
        <p:nvPicPr>
          <p:cNvPr id="5" name="Marcador de contenido 7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1BA58950-D556-AA4A-CAE1-2392097D2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47" y="3194745"/>
            <a:ext cx="5138182" cy="2448886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FCA1056-F0AA-07E5-60C9-9C6E6D283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537232"/>
            <a:ext cx="11029616" cy="1013800"/>
          </a:xfrm>
        </p:spPr>
        <p:txBody>
          <a:bodyPr anchor="ctr">
            <a:noAutofit/>
          </a:bodyPr>
          <a:lstStyle/>
          <a:p>
            <a:r>
              <a:rPr lang="es-CL" b="1"/>
              <a:t>c</a:t>
            </a:r>
            <a:endParaRPr lang="es-CL" b="1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402CE96-935C-2D3D-ACE0-152763F0C35A}"/>
              </a:ext>
            </a:extLst>
          </p:cNvPr>
          <p:cNvCxnSpPr>
            <a:cxnSpLocks/>
          </p:cNvCxnSpPr>
          <p:nvPr/>
        </p:nvCxnSpPr>
        <p:spPr>
          <a:xfrm>
            <a:off x="2821489" y="4849051"/>
            <a:ext cx="822209" cy="2190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91EAF3C-7DF8-9759-6E92-CB3D8F5951F3}"/>
              </a:ext>
            </a:extLst>
          </p:cNvPr>
          <p:cNvSpPr/>
          <p:nvPr/>
        </p:nvSpPr>
        <p:spPr>
          <a:xfrm>
            <a:off x="1767672" y="4711328"/>
            <a:ext cx="1053816" cy="300585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err="1">
                <a:solidFill>
                  <a:schemeClr val="accent6">
                    <a:lumMod val="10000"/>
                  </a:schemeClr>
                </a:solidFill>
              </a:rPr>
              <a:t>Outlier</a:t>
            </a:r>
            <a:endParaRPr lang="es-CL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4" name="椭圆 5">
            <a:extLst>
              <a:ext uri="{FF2B5EF4-FFF2-40B4-BE49-F238E27FC236}">
                <a16:creationId xmlns:a16="http://schemas.microsoft.com/office/drawing/2014/main" id="{D61A5DAD-C907-4B67-8D1C-128EE2CF95F6}"/>
              </a:ext>
            </a:extLst>
          </p:cNvPr>
          <p:cNvSpPr/>
          <p:nvPr/>
        </p:nvSpPr>
        <p:spPr>
          <a:xfrm>
            <a:off x="3603580" y="4973178"/>
            <a:ext cx="303414" cy="2753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5">
            <a:extLst>
              <a:ext uri="{FF2B5EF4-FFF2-40B4-BE49-F238E27FC236}">
                <a16:creationId xmlns:a16="http://schemas.microsoft.com/office/drawing/2014/main" id="{4675854B-B3DD-F4DD-6889-48826BA9301D}"/>
              </a:ext>
            </a:extLst>
          </p:cNvPr>
          <p:cNvSpPr/>
          <p:nvPr/>
        </p:nvSpPr>
        <p:spPr>
          <a:xfrm>
            <a:off x="8272622" y="5181209"/>
            <a:ext cx="288977" cy="2883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04FFD42-60A6-C66E-359C-804E50105E57}"/>
              </a:ext>
            </a:extLst>
          </p:cNvPr>
          <p:cNvCxnSpPr>
            <a:cxnSpLocks/>
          </p:cNvCxnSpPr>
          <p:nvPr/>
        </p:nvCxnSpPr>
        <p:spPr>
          <a:xfrm flipH="1">
            <a:off x="8547863" y="4918766"/>
            <a:ext cx="767685" cy="3539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91EAF3C-7DF8-9759-6E92-CB3D8F5951F3}"/>
              </a:ext>
            </a:extLst>
          </p:cNvPr>
          <p:cNvSpPr/>
          <p:nvPr/>
        </p:nvSpPr>
        <p:spPr>
          <a:xfrm>
            <a:off x="9315547" y="4773923"/>
            <a:ext cx="1104041" cy="280195"/>
          </a:xfrm>
          <a:prstGeom prst="round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err="1">
                <a:solidFill>
                  <a:schemeClr val="accent6">
                    <a:lumMod val="10000"/>
                  </a:schemeClr>
                </a:solidFill>
              </a:rPr>
              <a:t>Outlier</a:t>
            </a:r>
            <a:endParaRPr lang="es-CL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9" name="椭圆 5">
            <a:extLst>
              <a:ext uri="{FF2B5EF4-FFF2-40B4-BE49-F238E27FC236}">
                <a16:creationId xmlns:a16="http://schemas.microsoft.com/office/drawing/2014/main" id="{38AE1725-715B-3480-CD5E-4C6BEE3ACE8A}"/>
              </a:ext>
            </a:extLst>
          </p:cNvPr>
          <p:cNvSpPr/>
          <p:nvPr/>
        </p:nvSpPr>
        <p:spPr>
          <a:xfrm>
            <a:off x="8755996" y="3350836"/>
            <a:ext cx="317874" cy="317200"/>
          </a:xfrm>
          <a:prstGeom prst="ellipse">
            <a:avLst/>
          </a:prstGeom>
          <a:noFill/>
          <a:ln>
            <a:solidFill>
              <a:srgbClr val="FFB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C39C92-4DB6-ABB5-9659-D91F05E49F80}"/>
              </a:ext>
            </a:extLst>
          </p:cNvPr>
          <p:cNvCxnSpPr>
            <a:cxnSpLocks/>
            <a:stCxn id="21" idx="3"/>
            <a:endCxn id="19" idx="2"/>
          </p:cNvCxnSpPr>
          <p:nvPr/>
        </p:nvCxnSpPr>
        <p:spPr>
          <a:xfrm flipV="1">
            <a:off x="7807811" y="3509436"/>
            <a:ext cx="948185" cy="58608"/>
          </a:xfrm>
          <a:prstGeom prst="straightConnector1">
            <a:avLst/>
          </a:prstGeom>
          <a:ln>
            <a:solidFill>
              <a:srgbClr val="FFB3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170FCF5-5430-ECF1-6D72-07354B42215E}"/>
              </a:ext>
            </a:extLst>
          </p:cNvPr>
          <p:cNvSpPr/>
          <p:nvPr/>
        </p:nvSpPr>
        <p:spPr>
          <a:xfrm>
            <a:off x="6703770" y="3427946"/>
            <a:ext cx="1104041" cy="280195"/>
          </a:xfrm>
          <a:prstGeom prst="roundRect">
            <a:avLst/>
          </a:prstGeom>
          <a:solidFill>
            <a:schemeClr val="bg1"/>
          </a:solidFill>
          <a:ln>
            <a:solidFill>
              <a:srgbClr val="FFB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>
                <a:solidFill>
                  <a:schemeClr val="accent6">
                    <a:lumMod val="10000"/>
                  </a:schemeClr>
                </a:solidFill>
              </a:rPr>
              <a:t>Change</a:t>
            </a:r>
          </a:p>
        </p:txBody>
      </p:sp>
      <p:sp>
        <p:nvSpPr>
          <p:cNvPr id="22" name="椭圆 5">
            <a:extLst>
              <a:ext uri="{FF2B5EF4-FFF2-40B4-BE49-F238E27FC236}">
                <a16:creationId xmlns:a16="http://schemas.microsoft.com/office/drawing/2014/main" id="{41ADE973-AB43-55AD-98F2-605BF63EA4E5}"/>
              </a:ext>
            </a:extLst>
          </p:cNvPr>
          <p:cNvSpPr/>
          <p:nvPr/>
        </p:nvSpPr>
        <p:spPr>
          <a:xfrm>
            <a:off x="8249432" y="4363057"/>
            <a:ext cx="317874" cy="317200"/>
          </a:xfrm>
          <a:prstGeom prst="ellipse">
            <a:avLst/>
          </a:prstGeom>
          <a:noFill/>
          <a:ln>
            <a:solidFill>
              <a:srgbClr val="FFB3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CC702BB-D6E7-5DAB-CBAA-C45A30A341F8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7807811" y="3568044"/>
            <a:ext cx="488173" cy="841466"/>
          </a:xfrm>
          <a:prstGeom prst="straightConnector1">
            <a:avLst/>
          </a:prstGeom>
          <a:ln>
            <a:solidFill>
              <a:srgbClr val="FFB33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361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14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DD3F3-F3D0-841D-3E1E-CBC87C3C0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2D83A-1601-6264-CA1F-14B7FE9BC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1" y="2181600"/>
            <a:ext cx="5422390" cy="3740177"/>
          </a:xfrm>
          <a:ln w="12700">
            <a:solidFill>
              <a:schemeClr val="tx1">
                <a:lumMod val="50000"/>
              </a:schemeClr>
            </a:solidFill>
          </a:ln>
        </p:spPr>
        <p:txBody>
          <a:bodyPr anchor="t"/>
          <a:lstStyle/>
          <a:p>
            <a:pPr marL="305435" indent="-305435">
              <a:lnSpc>
                <a:spcPct val="150000"/>
              </a:lnSpc>
            </a:pPr>
            <a:r>
              <a:rPr lang="es-CL"/>
              <a:t>Modelo Diferenciación estadística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133477-90DB-5612-AC2C-91D1996529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8421" y="2181600"/>
            <a:ext cx="5421600" cy="3740177"/>
          </a:xfrm>
          <a:ln>
            <a:solidFill>
              <a:schemeClr val="tx1">
                <a:lumMod val="50000"/>
              </a:schemeClr>
            </a:solidFill>
          </a:ln>
        </p:spPr>
        <p:txBody>
          <a:bodyPr anchor="t"/>
          <a:lstStyle/>
          <a:p>
            <a:pPr marL="305435" indent="-305435">
              <a:lnSpc>
                <a:spcPct val="150000"/>
              </a:lnSpc>
            </a:pPr>
            <a:r>
              <a:rPr lang="es-CL"/>
              <a:t>Modelo AR</a:t>
            </a:r>
            <a:endParaRPr lang="es-CL" i="1"/>
          </a:p>
          <a:p>
            <a:pPr marL="0" indent="0">
              <a:lnSpc>
                <a:spcPct val="150000"/>
              </a:lnSpc>
              <a:buNone/>
            </a:pPr>
            <a:endParaRPr lang="es-CL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366FF07-7F5A-95AD-24B6-8F430928C3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59449"/>
              </p:ext>
            </p:extLst>
          </p:nvPr>
        </p:nvGraphicFramePr>
        <p:xfrm>
          <a:off x="1190625" y="2772539"/>
          <a:ext cx="3996717" cy="283828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644042">
                  <a:extLst>
                    <a:ext uri="{9D8B030D-6E8A-4147-A177-3AD203B41FA5}">
                      <a16:colId xmlns:a16="http://schemas.microsoft.com/office/drawing/2014/main" val="3567695113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913280278"/>
                    </a:ext>
                  </a:extLst>
                </a:gridCol>
                <a:gridCol w="646112">
                  <a:extLst>
                    <a:ext uri="{9D8B030D-6E8A-4147-A177-3AD203B41FA5}">
                      <a16:colId xmlns:a16="http://schemas.microsoft.com/office/drawing/2014/main" val="2938662581"/>
                    </a:ext>
                  </a:extLst>
                </a:gridCol>
                <a:gridCol w="839788">
                  <a:extLst>
                    <a:ext uri="{9D8B030D-6E8A-4147-A177-3AD203B41FA5}">
                      <a16:colId xmlns:a16="http://schemas.microsoft.com/office/drawing/2014/main" val="1894560863"/>
                    </a:ext>
                  </a:extLst>
                </a:gridCol>
              </a:tblGrid>
              <a:tr h="2244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b="1"/>
                        <a:t>Variable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b="1"/>
                        <a:t>Precisión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b="1" err="1"/>
                        <a:t>Recall</a:t>
                      </a:r>
                      <a:endParaRPr lang="es-CL" sz="1200" b="1"/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b="1"/>
                        <a:t>F1-Score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455973580"/>
                  </a:ext>
                </a:extLst>
              </a:tr>
              <a:tr h="375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pH coagulación entrada DAF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0.579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0.846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0.688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1844478300"/>
                  </a:ext>
                </a:extLst>
              </a:tr>
              <a:tr h="437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pH Clarificado DAF (Tk_80m3)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0.667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0.667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0.667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070974633"/>
                  </a:ext>
                </a:extLst>
              </a:tr>
              <a:tr h="375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pH salida a Parshall 02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0.500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1.000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0.667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945881387"/>
                  </a:ext>
                </a:extLst>
              </a:tr>
              <a:tr h="4379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Flujo Salida de Lodo Sed. Sec. 3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0.692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0.964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0.806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027731740"/>
                  </a:ext>
                </a:extLst>
              </a:tr>
              <a:tr h="375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Flujo Afluente PTAR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1.000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0.500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0.667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895116948"/>
                  </a:ext>
                </a:extLst>
              </a:tr>
              <a:tr h="375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Flujo Cámara de contacto 2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1.000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0.500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0.667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8673969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9F54078-C3D6-5111-0821-1336F9FEC1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587868"/>
              </p:ext>
            </p:extLst>
          </p:nvPr>
        </p:nvGraphicFramePr>
        <p:xfrm>
          <a:off x="6965921" y="2782828"/>
          <a:ext cx="3996717" cy="2847374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626373">
                  <a:extLst>
                    <a:ext uri="{9D8B030D-6E8A-4147-A177-3AD203B41FA5}">
                      <a16:colId xmlns:a16="http://schemas.microsoft.com/office/drawing/2014/main" val="1688121998"/>
                    </a:ext>
                  </a:extLst>
                </a:gridCol>
                <a:gridCol w="879376">
                  <a:extLst>
                    <a:ext uri="{9D8B030D-6E8A-4147-A177-3AD203B41FA5}">
                      <a16:colId xmlns:a16="http://schemas.microsoft.com/office/drawing/2014/main" val="2866746681"/>
                    </a:ext>
                  </a:extLst>
                </a:gridCol>
                <a:gridCol w="642985">
                  <a:extLst>
                    <a:ext uri="{9D8B030D-6E8A-4147-A177-3AD203B41FA5}">
                      <a16:colId xmlns:a16="http://schemas.microsoft.com/office/drawing/2014/main" val="3213415377"/>
                    </a:ext>
                  </a:extLst>
                </a:gridCol>
                <a:gridCol w="847983">
                  <a:extLst>
                    <a:ext uri="{9D8B030D-6E8A-4147-A177-3AD203B41FA5}">
                      <a16:colId xmlns:a16="http://schemas.microsoft.com/office/drawing/2014/main" val="309379845"/>
                    </a:ext>
                  </a:extLst>
                </a:gridCol>
              </a:tblGrid>
              <a:tr h="2698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b="1"/>
                        <a:t>Variable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b="1"/>
                        <a:t>Precisión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b="1" err="1"/>
                        <a:t>Recall</a:t>
                      </a:r>
                      <a:endParaRPr lang="es-CL" sz="1200" b="1"/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 b="1"/>
                        <a:t>F1-Score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2316556305"/>
                  </a:ext>
                </a:extLst>
              </a:tr>
              <a:tr h="451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pH coagulación entrada DAF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0.455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0.769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0.572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628115509"/>
                  </a:ext>
                </a:extLst>
              </a:tr>
              <a:tr h="451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pH Clarificado DAF (Tk_80m3)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0.286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1.000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0.445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706387525"/>
                  </a:ext>
                </a:extLst>
              </a:tr>
              <a:tr h="3882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pH salida a Parshall 02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0.000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0.000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0.000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424320285"/>
                  </a:ext>
                </a:extLst>
              </a:tr>
              <a:tr h="451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Flujo Salida de Lodo Sed. Sec. 3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0.789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0.536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0.638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080929138"/>
                  </a:ext>
                </a:extLst>
              </a:tr>
              <a:tr h="372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Flujo Afluente PTAR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0.118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1.000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0.211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3168834072"/>
                  </a:ext>
                </a:extLst>
              </a:tr>
              <a:tr h="4518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Flujo Cámara de contacto 2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0.105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1.000</a:t>
                      </a:r>
                    </a:p>
                  </a:txBody>
                  <a:tcPr marL="88106" marR="88106" marT="44053" marB="4405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L" sz="1200"/>
                        <a:t>0.190</a:t>
                      </a:r>
                    </a:p>
                  </a:txBody>
                  <a:tcPr marL="88106" marR="88106" marT="44053" marB="44053" anchor="ctr"/>
                </a:tc>
                <a:extLst>
                  <a:ext uri="{0D108BD9-81ED-4DB2-BD59-A6C34878D82A}">
                    <a16:rowId xmlns:a16="http://schemas.microsoft.com/office/drawing/2014/main" val="2360181082"/>
                  </a:ext>
                </a:extLst>
              </a:tr>
            </a:tbl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6E0E44F1-F51D-E652-EAF0-B50355510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537232"/>
            <a:ext cx="11029616" cy="1013800"/>
          </a:xfrm>
        </p:spPr>
        <p:txBody>
          <a:bodyPr anchor="ctr">
            <a:noAutofit/>
          </a:bodyPr>
          <a:lstStyle/>
          <a:p>
            <a:r>
              <a:rPr lang="es-CL" b="1"/>
              <a:t>IMPLEMENTACIÓN DE MÉTODOS AUTOMÁTICOS PARA DETECTAR ANOMALÍAS EN SERIES DE TIEMPO</a:t>
            </a:r>
          </a:p>
        </p:txBody>
      </p:sp>
    </p:spTree>
    <p:extLst>
      <p:ext uri="{BB962C8B-B14F-4D97-AF65-F5344CB8AC3E}">
        <p14:creationId xmlns:p14="http://schemas.microsoft.com/office/powerpoint/2010/main" val="1922780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AE8C0-A640-6F23-5570-CCC9AA2D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BDEE-0F97-B7AE-5525-D3648D9E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Autofit/>
          </a:bodyPr>
          <a:lstStyle/>
          <a:p>
            <a:r>
              <a:rPr lang="es-CL" sz="2800"/>
              <a:t>DETECTAR DRIFT PERMITE MANTENER MODELOS ESTABLES Y EVITAR RETRAINING INNECESARIO</a:t>
            </a:r>
            <a:endParaRPr lang="es-CL" sz="2800" noProof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3515ED-CEAD-55F9-1477-039DF9CCE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73570"/>
          </a:xfrm>
          <a:ln>
            <a:solidFill>
              <a:schemeClr val="tx1">
                <a:lumMod val="50000"/>
              </a:schemeClr>
            </a:solidFill>
          </a:ln>
        </p:spPr>
        <p:txBody>
          <a:bodyPr/>
          <a:lstStyle/>
          <a:p>
            <a:r>
              <a:rPr lang="es-CL"/>
              <a:t>Detectarlo a tiempo evita desviaciones en los sensores y pérdida de precisión en los modelos</a:t>
            </a:r>
          </a:p>
          <a:p>
            <a:r>
              <a:rPr lang="es-CL"/>
              <a:t>En </a:t>
            </a:r>
            <a:r>
              <a:rPr lang="es-CL" err="1"/>
              <a:t>Ainwater</a:t>
            </a:r>
            <a:r>
              <a:rPr lang="es-CL"/>
              <a:t>, el monitoreo de </a:t>
            </a:r>
            <a:r>
              <a:rPr lang="es-CL" err="1"/>
              <a:t>drift</a:t>
            </a:r>
            <a:r>
              <a:rPr lang="es-CL"/>
              <a:t> mantiene los modelos estables, evitando reentrenamientos innecesarios</a:t>
            </a:r>
          </a:p>
          <a:p>
            <a:r>
              <a:rPr lang="es-CL"/>
              <a:t>Con esta herramienta se mejora la confiabilidad de las predicciones y reduce el costo de mantenimiento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0AB9A3-6914-B76C-9E39-F1D8830C96E8}"/>
              </a:ext>
            </a:extLst>
          </p:cNvPr>
          <p:cNvSpPr txBox="1"/>
          <p:nvPr/>
        </p:nvSpPr>
        <p:spPr>
          <a:xfrm>
            <a:off x="3229167" y="4142670"/>
            <a:ext cx="5223695" cy="370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Flujo Aire Reactor 3 – </a:t>
            </a:r>
            <a:r>
              <a:rPr lang="es-CL" err="1"/>
              <a:t>drift</a:t>
            </a:r>
            <a:r>
              <a:rPr lang="es-CL"/>
              <a:t> no detectado (score 0.06)</a:t>
            </a:r>
          </a:p>
        </p:txBody>
      </p:sp>
      <p:pic>
        <p:nvPicPr>
          <p:cNvPr id="13" name="Picture 12" descr="A graph showing a graph of a heart rate&#10;&#10;AI-generated content may be incorrect.">
            <a:extLst>
              <a:ext uri="{FF2B5EF4-FFF2-40B4-BE49-F238E27FC236}">
                <a16:creationId xmlns:a16="http://schemas.microsoft.com/office/drawing/2014/main" id="{27B75554-818F-80A1-0BD7-6562DC609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125" r="10961" b="7246"/>
          <a:stretch>
            <a:fillRect/>
          </a:stretch>
        </p:blipFill>
        <p:spPr>
          <a:xfrm>
            <a:off x="2995900" y="4497870"/>
            <a:ext cx="6209778" cy="15027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03F78D-32DF-429B-5CAB-91E79C632C0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933" r="4731" b="13950"/>
          <a:stretch>
            <a:fillRect/>
          </a:stretch>
        </p:blipFill>
        <p:spPr>
          <a:xfrm>
            <a:off x="8286183" y="4157472"/>
            <a:ext cx="927923" cy="3952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92EBDED-C8B7-D345-2246-EE7A17F4EE4B}"/>
              </a:ext>
            </a:extLst>
          </p:cNvPr>
          <p:cNvSpPr/>
          <p:nvPr/>
        </p:nvSpPr>
        <p:spPr>
          <a:xfrm>
            <a:off x="2904646" y="4057095"/>
            <a:ext cx="6382707" cy="1952143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>
              <a:highlight>
                <a:srgbClr val="FFFF00"/>
              </a:highlight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73BA43-19E8-89F5-7D66-AA089E25F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9DE7A-ED58-CF60-7094-75578E67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69AC8A-234F-4CDA-B6BA-EF227A7B1551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8429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E3051-2012-2342-729F-1C14D06CD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0A52B-4C9E-1F80-ACE4-6B5A3973A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7169943" cy="4166094"/>
          </a:xfrm>
          <a:ln w="12700">
            <a:solidFill>
              <a:schemeClr val="tx1"/>
            </a:solidFill>
          </a:ln>
        </p:spPr>
        <p:txBody>
          <a:bodyPr anchor="t">
            <a:noAutofit/>
          </a:bodyPr>
          <a:lstStyle/>
          <a:p>
            <a:pPr>
              <a:lnSpc>
                <a:spcPct val="150000"/>
              </a:lnSpc>
            </a:pPr>
            <a:r>
              <a:rPr lang="es-CL" dirty="0" err="1"/>
              <a:t>Decay</a:t>
            </a:r>
            <a:r>
              <a:rPr lang="es-CL" dirty="0"/>
              <a:t> Reference (exponencial)</a:t>
            </a:r>
          </a:p>
          <a:p>
            <a:pPr lvl="1"/>
            <a:r>
              <a:rPr lang="es-CL" sz="1800" dirty="0"/>
              <a:t>Prioriza los datos más recientes mediante pesos exponenciales</a:t>
            </a:r>
          </a:p>
          <a:p>
            <a:pPr lvl="1"/>
            <a:r>
              <a:rPr lang="es-CL" sz="1800" dirty="0"/>
              <a:t>Reacciona rápido a cambios recientes, ideal para sensores inestables</a:t>
            </a:r>
          </a:p>
          <a:p>
            <a:r>
              <a:rPr lang="es-CL" dirty="0"/>
              <a:t>Golden Reference (ventanas estables)</a:t>
            </a:r>
          </a:p>
          <a:p>
            <a:pPr lvl="1"/>
            <a:r>
              <a:rPr lang="es-CL" sz="1800" dirty="0"/>
              <a:t>Se construye con los periodos más estables del histórico</a:t>
            </a:r>
          </a:p>
          <a:p>
            <a:pPr lvl="1"/>
            <a:r>
              <a:rPr lang="es-CL" sz="1800" dirty="0"/>
              <a:t>Proporciona una referencia robusta ante ruido o picos aislados</a:t>
            </a:r>
          </a:p>
          <a:p>
            <a:r>
              <a:rPr lang="es-CL" dirty="0" err="1"/>
              <a:t>Seasonal</a:t>
            </a:r>
            <a:r>
              <a:rPr lang="es-CL" dirty="0"/>
              <a:t> Reference (estacionalidad)</a:t>
            </a:r>
          </a:p>
          <a:p>
            <a:pPr lvl="1"/>
            <a:r>
              <a:rPr lang="es-CL" sz="1800" dirty="0"/>
              <a:t>Compara con semanas equivalentes (misma hora y día)</a:t>
            </a:r>
          </a:p>
          <a:p>
            <a:pPr lvl="1"/>
            <a:r>
              <a:rPr lang="es-CL" sz="1800" dirty="0"/>
              <a:t>Captura patrones cíclicos diarios </a:t>
            </a:r>
            <a:r>
              <a:rPr lang="es-CL" sz="1800"/>
              <a:t>o semanales</a:t>
            </a:r>
            <a:endParaRPr lang="es-CL" sz="18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55E47EC-035E-602C-ED23-380C5F23D695}"/>
              </a:ext>
            </a:extLst>
          </p:cNvPr>
          <p:cNvSpPr txBox="1">
            <a:spLocks/>
          </p:cNvSpPr>
          <p:nvPr/>
        </p:nvSpPr>
        <p:spPr>
          <a:xfrm>
            <a:off x="570019" y="511410"/>
            <a:ext cx="11029616" cy="1013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L" b="1"/>
              <a:t>Estrategias para construir la referencia histórica del </a:t>
            </a:r>
            <a:r>
              <a:rPr lang="es-CL" b="1" err="1"/>
              <a:t>Drift</a:t>
            </a:r>
            <a:endParaRPr lang="es-CL" b="1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D66B3D9-ACC0-0682-B784-D7CB03A4EB9C}"/>
              </a:ext>
            </a:extLst>
          </p:cNvPr>
          <p:cNvSpPr/>
          <p:nvPr/>
        </p:nvSpPr>
        <p:spPr>
          <a:xfrm>
            <a:off x="7996256" y="3352914"/>
            <a:ext cx="3287933" cy="589216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s-CL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Estrategia de referencia </a:t>
            </a:r>
          </a:p>
          <a:p>
            <a:pPr algn="ctr"/>
            <a:r>
              <a:rPr lang="es-CL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(</a:t>
            </a:r>
            <a:r>
              <a:rPr lang="es-CL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Decay</a:t>
            </a:r>
            <a:r>
              <a:rPr lang="es-CL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/ Golden / </a:t>
            </a:r>
            <a:r>
              <a:rPr lang="es-CL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Seasonal</a:t>
            </a:r>
            <a:r>
              <a:rPr lang="es-CL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0FB9C70-B76A-2AEB-D4EB-1E08F19031FF}"/>
              </a:ext>
            </a:extLst>
          </p:cNvPr>
          <p:cNvSpPr/>
          <p:nvPr/>
        </p:nvSpPr>
        <p:spPr>
          <a:xfrm>
            <a:off x="8469543" y="2297460"/>
            <a:ext cx="2264055" cy="452550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Datos </a:t>
            </a:r>
            <a:r>
              <a:rPr lang="en-US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Historicos</a:t>
            </a:r>
            <a:endParaRPr lang="es-CL" b="1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C805813E-229E-F11F-018B-4351E707E52B}"/>
              </a:ext>
            </a:extLst>
          </p:cNvPr>
          <p:cNvSpPr/>
          <p:nvPr/>
        </p:nvSpPr>
        <p:spPr>
          <a:xfrm>
            <a:off x="9330879" y="3973247"/>
            <a:ext cx="541377" cy="513920"/>
          </a:xfrm>
          <a:prstGeom prst="downArrow">
            <a:avLst/>
          </a:prstGeom>
          <a:solidFill>
            <a:srgbClr val="2AA6DD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L" b="1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AC46688-9849-2CB4-E478-9ED45FE71ABD}"/>
              </a:ext>
            </a:extLst>
          </p:cNvPr>
          <p:cNvSpPr/>
          <p:nvPr/>
        </p:nvSpPr>
        <p:spPr>
          <a:xfrm>
            <a:off x="8469538" y="4549401"/>
            <a:ext cx="2264055" cy="452550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Ventana Actual</a:t>
            </a:r>
            <a:endParaRPr lang="es-CL" b="1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1B744BCD-3D24-A961-1743-4FFA3B80A454}"/>
              </a:ext>
            </a:extLst>
          </p:cNvPr>
          <p:cNvSpPr/>
          <p:nvPr/>
        </p:nvSpPr>
        <p:spPr>
          <a:xfrm>
            <a:off x="9320610" y="2807877"/>
            <a:ext cx="541377" cy="513920"/>
          </a:xfrm>
          <a:prstGeom prst="downArrow">
            <a:avLst/>
          </a:prstGeom>
          <a:solidFill>
            <a:srgbClr val="2AA6DD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L" b="1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48F6CDF0-18D1-8509-0D8B-4B594B367BC0}"/>
              </a:ext>
            </a:extLst>
          </p:cNvPr>
          <p:cNvSpPr/>
          <p:nvPr/>
        </p:nvSpPr>
        <p:spPr>
          <a:xfrm>
            <a:off x="9331245" y="5064185"/>
            <a:ext cx="541377" cy="513920"/>
          </a:xfrm>
          <a:prstGeom prst="downArrow">
            <a:avLst/>
          </a:prstGeom>
          <a:solidFill>
            <a:srgbClr val="2AA6DD"/>
          </a:solidFill>
          <a:ln w="28575" cap="flat" cmpd="sng" algn="ctr">
            <a:solidFill>
              <a:schemeClr val="accent2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s-CL" b="1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2DAD043-D34B-69E4-5949-A23377ABFADA}"/>
              </a:ext>
            </a:extLst>
          </p:cNvPr>
          <p:cNvSpPr/>
          <p:nvPr/>
        </p:nvSpPr>
        <p:spPr>
          <a:xfrm>
            <a:off x="8054710" y="5640339"/>
            <a:ext cx="3093709" cy="452550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chemeClr val="tx1">
                    <a:lumMod val="75000"/>
                  </a:schemeClr>
                </a:solidFill>
                <a:cs typeface="Arial" panose="020B0604020202020204" pitchFamily="34" charset="0"/>
              </a:rPr>
              <a:t>Comparación</a:t>
            </a:r>
            <a:r>
              <a:rPr lang="en-US" b="1">
                <a:solidFill>
                  <a:schemeClr val="tx1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b="1" err="1">
                <a:solidFill>
                  <a:schemeClr val="tx1">
                    <a:lumMod val="75000"/>
                  </a:schemeClr>
                </a:solidFill>
                <a:cs typeface="Arial" panose="020B0604020202020204" pitchFamily="34" charset="0"/>
              </a:rPr>
              <a:t>estadística</a:t>
            </a:r>
            <a:endParaRPr lang="es-CL" b="1">
              <a:solidFill>
                <a:schemeClr val="tx1">
                  <a:lumMod val="75000"/>
                </a:scheme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914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C6120-8003-E039-A070-A76FAFEF2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sz="2800"/>
              <a:t>Métodos estadísticos para medir diferencias de distribución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847E77A-BFE3-D4DC-8CFA-E122294A5BBD}"/>
              </a:ext>
            </a:extLst>
          </p:cNvPr>
          <p:cNvSpPr txBox="1">
            <a:spLocks/>
          </p:cNvSpPr>
          <p:nvPr/>
        </p:nvSpPr>
        <p:spPr>
          <a:xfrm>
            <a:off x="581193" y="2250892"/>
            <a:ext cx="5393102" cy="536005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just" defTabSz="457200" rtl="0" eaLnBrk="1" latinLnBrk="0" hangingPunct="1">
              <a:lnSpc>
                <a:spcPct val="15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630000" indent="-306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L" b="1"/>
              <a:t>Pruebas de hipótesis (p-valores)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9DFE3C-F19F-C211-5F58-75FA530E6F26}"/>
              </a:ext>
            </a:extLst>
          </p:cNvPr>
          <p:cNvSpPr txBox="1">
            <a:spLocks/>
          </p:cNvSpPr>
          <p:nvPr/>
        </p:nvSpPr>
        <p:spPr>
          <a:xfrm>
            <a:off x="581194" y="2935884"/>
            <a:ext cx="5393100" cy="3251464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Kolmogorov</a:t>
            </a:r>
            <a:r>
              <a:rPr lang="es-CL" dirty="0"/>
              <a:t>–</a:t>
            </a:r>
            <a:r>
              <a:rPr lang="es-CL" dirty="0" err="1"/>
              <a:t>Smirnov</a:t>
            </a:r>
            <a:r>
              <a:rPr lang="es-CL" dirty="0"/>
              <a:t> (KS)</a:t>
            </a:r>
          </a:p>
          <a:p>
            <a:pPr lvl="1"/>
            <a:r>
              <a:rPr lang="es-CL" sz="1800" dirty="0"/>
              <a:t>Prueba de hipótesis que compara distribuciones acumuladas</a:t>
            </a:r>
          </a:p>
          <a:p>
            <a:pPr lvl="1"/>
            <a:r>
              <a:rPr lang="es-CL" sz="1800" dirty="0"/>
              <a:t>Detecta diferencias abruptas en forma o posición</a:t>
            </a:r>
          </a:p>
          <a:p>
            <a:r>
              <a:rPr lang="es-CL" dirty="0"/>
              <a:t>Mann–Whitney U (MWU)</a:t>
            </a:r>
          </a:p>
          <a:p>
            <a:pPr lvl="1"/>
            <a:r>
              <a:rPr lang="es-CL" sz="1800" dirty="0"/>
              <a:t>Prueba no paramétrica sobre medianas</a:t>
            </a:r>
          </a:p>
          <a:p>
            <a:pPr lvl="1"/>
            <a:r>
              <a:rPr lang="es-CL" sz="1800" dirty="0"/>
              <a:t>Complementa a KS para validar </a:t>
            </a:r>
            <a:r>
              <a:rPr lang="es-CL" sz="1800" i="1" dirty="0" err="1"/>
              <a:t>shifts</a:t>
            </a:r>
            <a:r>
              <a:rPr lang="es-CL" sz="1800" dirty="0"/>
              <a:t> sistemáticos</a:t>
            </a:r>
          </a:p>
          <a:p>
            <a:endParaRPr lang="es-CL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AFADFC0-16B5-586A-9A3A-F32743A8CA4D}"/>
              </a:ext>
            </a:extLst>
          </p:cNvPr>
          <p:cNvSpPr txBox="1">
            <a:spLocks/>
          </p:cNvSpPr>
          <p:nvPr/>
        </p:nvSpPr>
        <p:spPr>
          <a:xfrm>
            <a:off x="6217706" y="2250892"/>
            <a:ext cx="5393101" cy="553373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 anchor="ctr"/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CL" b="1"/>
              <a:t>Métricas de distancia (continuas)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B49864A-0AEC-892B-6D24-818EED0A04B3}"/>
              </a:ext>
            </a:extLst>
          </p:cNvPr>
          <p:cNvSpPr txBox="1">
            <a:spLocks/>
          </p:cNvSpPr>
          <p:nvPr/>
        </p:nvSpPr>
        <p:spPr>
          <a:xfrm>
            <a:off x="6217709" y="2926052"/>
            <a:ext cx="5393100" cy="3251464"/>
          </a:xfrm>
          <a:prstGeom prst="rect">
            <a:avLst/>
          </a:prstGeom>
          <a:ln w="12700">
            <a:solidFill>
              <a:schemeClr val="tx1"/>
            </a:solidFill>
          </a:ln>
        </p:spPr>
        <p:txBody>
          <a:bodyPr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Population</a:t>
            </a:r>
            <a:r>
              <a:rPr lang="es-CL" dirty="0"/>
              <a:t> </a:t>
            </a:r>
            <a:r>
              <a:rPr lang="es-CL" dirty="0" err="1"/>
              <a:t>Stability</a:t>
            </a:r>
            <a:r>
              <a:rPr lang="es-CL" dirty="0"/>
              <a:t> </a:t>
            </a:r>
            <a:r>
              <a:rPr lang="es-CL" dirty="0" err="1"/>
              <a:t>Index</a:t>
            </a:r>
            <a:r>
              <a:rPr lang="es-CL" dirty="0"/>
              <a:t> (PSI)</a:t>
            </a:r>
          </a:p>
          <a:p>
            <a:pPr lvl="1"/>
            <a:r>
              <a:rPr lang="es-CL" sz="1800" dirty="0"/>
              <a:t>Mide la divergencia entre histogramas</a:t>
            </a:r>
          </a:p>
          <a:p>
            <a:pPr lvl="1"/>
            <a:r>
              <a:rPr lang="es-CL" sz="1800" dirty="0"/>
              <a:t>Ideal para monitoreo continuo de cambios graduales</a:t>
            </a:r>
          </a:p>
          <a:p>
            <a:r>
              <a:rPr lang="es-CL" dirty="0" err="1"/>
              <a:t>Wasserstein</a:t>
            </a:r>
            <a:r>
              <a:rPr lang="es-CL" dirty="0"/>
              <a:t> </a:t>
            </a:r>
            <a:r>
              <a:rPr lang="es-CL" dirty="0" err="1"/>
              <a:t>Distance</a:t>
            </a:r>
            <a:endParaRPr lang="es-CL" dirty="0"/>
          </a:p>
          <a:p>
            <a:pPr lvl="1"/>
            <a:r>
              <a:rPr lang="es-CL" sz="1800" dirty="0"/>
              <a:t>Evalúa la distancia promedio entre cuantiles</a:t>
            </a:r>
          </a:p>
          <a:p>
            <a:pPr lvl="1"/>
            <a:r>
              <a:rPr lang="es-CL" sz="1800" dirty="0"/>
              <a:t>Capta desplazamientos suaves en media y dispersión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28876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52258-5DCB-74B3-AC8D-644FFEDC4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sz="2800"/>
              <a:t>PRÓXIMOS PASOS: INTEGRAR, VALIDAR Y MEDIR EL IMPACTO DE LA SOLUCIÓN</a:t>
            </a:r>
            <a:endParaRPr lang="es-CL" sz="2800" b="1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3D6DD-510D-6A14-3402-4F48DAA77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7"/>
            <a:ext cx="10487860" cy="2543904"/>
          </a:xfrm>
          <a:ln w="12700">
            <a:solidFill>
              <a:schemeClr val="tx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s-CL">
                <a:latin typeface="Arial" panose="020B0604020202020204" pitchFamily="34" charset="0"/>
                <a:cs typeface="Arial" panose="020B0604020202020204" pitchFamily="34" charset="0"/>
              </a:rPr>
              <a:t>Unificar las métricas de calidad en un reporte automático, integrando </a:t>
            </a:r>
            <a:r>
              <a:rPr lang="es-CL" err="1">
                <a:latin typeface="Arial" panose="020B0604020202020204" pitchFamily="34" charset="0"/>
                <a:cs typeface="Arial" panose="020B0604020202020204" pitchFamily="34" charset="0"/>
              </a:rPr>
              <a:t>outliers</a:t>
            </a:r>
            <a:r>
              <a:rPr lang="es-CL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CL" err="1">
                <a:latin typeface="Arial" panose="020B0604020202020204" pitchFamily="34" charset="0"/>
                <a:cs typeface="Arial" panose="020B0604020202020204" pitchFamily="34" charset="0"/>
              </a:rPr>
              <a:t>drift</a:t>
            </a:r>
            <a:endParaRPr lang="es-CL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sz="1900">
                <a:latin typeface="Arial" panose="020B0604020202020204" pitchFamily="34" charset="0"/>
                <a:cs typeface="Arial" panose="020B0604020202020204" pitchFamily="34" charset="0"/>
              </a:rPr>
              <a:t>Ajustar umbrales dinámicos por variable y planta, según su comportamiento histórico</a:t>
            </a:r>
            <a:endParaRPr lang="es-CL" sz="1900" noProof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L" noProof="0">
                <a:latin typeface="Arial" panose="020B0604020202020204" pitchFamily="34" charset="0"/>
                <a:cs typeface="Arial" panose="020B0604020202020204" pitchFamily="34" charset="0"/>
              </a:rPr>
              <a:t>Definir métricas de valor del modelo (frecuencia óptima de reentrenamiento, pérdida de precisión)</a:t>
            </a:r>
          </a:p>
          <a:p>
            <a:r>
              <a:rPr lang="es-CL">
                <a:latin typeface="Arial" panose="020B0604020202020204" pitchFamily="34" charset="0"/>
                <a:cs typeface="Arial" panose="020B0604020202020204" pitchFamily="34" charset="0"/>
              </a:rPr>
              <a:t>Medir el valor operativo real: reducción de reentrenamientos, menor costo de mantenimiento y mayor confiabilidad de los modelos</a:t>
            </a:r>
            <a:endParaRPr lang="es-CL" noProof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722041F-AC88-C009-D302-14074DFAB453}"/>
              </a:ext>
            </a:extLst>
          </p:cNvPr>
          <p:cNvSpPr/>
          <p:nvPr/>
        </p:nvSpPr>
        <p:spPr>
          <a:xfrm>
            <a:off x="963986" y="5641069"/>
            <a:ext cx="2497981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Ainwater</a:t>
            </a:r>
            <a:endParaRPr lang="en-US" b="1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98FE5E-935E-051C-6F82-83A692640453}"/>
              </a:ext>
            </a:extLst>
          </p:cNvPr>
          <p:cNvSpPr/>
          <p:nvPr/>
        </p:nvSpPr>
        <p:spPr>
          <a:xfrm>
            <a:off x="4379050" y="5641069"/>
            <a:ext cx="2888525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Integración</a:t>
            </a:r>
            <a:r>
              <a:rPr lang="en-US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en</a:t>
            </a:r>
            <a:r>
              <a:rPr lang="en-US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Poseidón</a:t>
            </a:r>
            <a:endParaRPr lang="es-CL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786574E-D9AA-C61B-8A15-9C4009E1B9EF}"/>
              </a:ext>
            </a:extLst>
          </p:cNvPr>
          <p:cNvSpPr/>
          <p:nvPr/>
        </p:nvSpPr>
        <p:spPr>
          <a:xfrm>
            <a:off x="8174357" y="5641069"/>
            <a:ext cx="2527735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Medición</a:t>
            </a:r>
            <a:r>
              <a:rPr lang="en-US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de Impacto</a:t>
            </a:r>
            <a:endParaRPr lang="es-CL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3A7855-E2E1-67CA-51E2-4462AD98FE48}"/>
              </a:ext>
            </a:extLst>
          </p:cNvPr>
          <p:cNvSpPr/>
          <p:nvPr/>
        </p:nvSpPr>
        <p:spPr>
          <a:xfrm>
            <a:off x="4368130" y="4874112"/>
            <a:ext cx="2888525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Validación</a:t>
            </a:r>
            <a:r>
              <a:rPr lang="en-US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Técnica</a:t>
            </a:r>
            <a:endParaRPr lang="es-CL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52F3FBD-8500-A020-A04C-CAF01074721C}"/>
              </a:ext>
            </a:extLst>
          </p:cNvPr>
          <p:cNvSpPr/>
          <p:nvPr/>
        </p:nvSpPr>
        <p:spPr>
          <a:xfrm>
            <a:off x="8152519" y="4874112"/>
            <a:ext cx="2549574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Reporte</a:t>
            </a:r>
            <a:r>
              <a:rPr lang="en-US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 </a:t>
            </a:r>
            <a:r>
              <a:rPr lang="en-US" err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Unificado</a:t>
            </a:r>
            <a:endParaRPr lang="es-CL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84F39B2-5B0F-01BA-FCF1-2895336BF9D8}"/>
              </a:ext>
            </a:extLst>
          </p:cNvPr>
          <p:cNvSpPr/>
          <p:nvPr/>
        </p:nvSpPr>
        <p:spPr>
          <a:xfrm>
            <a:off x="963986" y="4881217"/>
            <a:ext cx="2497981" cy="461818"/>
          </a:xfrm>
          <a:prstGeom prst="roundRect">
            <a:avLst/>
          </a:prstGeom>
          <a:noFill/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Equipo Proyecto</a:t>
            </a:r>
            <a:endParaRPr lang="es-CL" b="1">
              <a:solidFill>
                <a:schemeClr val="tx1">
                  <a:lumMod val="75000"/>
                </a:schemeClr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EBFAC8EE-3811-733D-4C12-9349C3D8B308}"/>
              </a:ext>
            </a:extLst>
          </p:cNvPr>
          <p:cNvSpPr/>
          <p:nvPr/>
        </p:nvSpPr>
        <p:spPr>
          <a:xfrm>
            <a:off x="3544297" y="5760026"/>
            <a:ext cx="752423" cy="223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F0EB7B4F-56C0-7B9B-4AAD-3E8C032A8ABA}"/>
              </a:ext>
            </a:extLst>
          </p:cNvPr>
          <p:cNvSpPr/>
          <p:nvPr/>
        </p:nvSpPr>
        <p:spPr>
          <a:xfrm>
            <a:off x="7323225" y="5000175"/>
            <a:ext cx="752423" cy="223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31BBC5E2-FE9E-A863-CB81-2EC2B751FC63}"/>
              </a:ext>
            </a:extLst>
          </p:cNvPr>
          <p:cNvSpPr/>
          <p:nvPr/>
        </p:nvSpPr>
        <p:spPr>
          <a:xfrm>
            <a:off x="7331024" y="5760026"/>
            <a:ext cx="752423" cy="223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B63756C3-9F5D-3799-691A-60A1EFE313B7}"/>
              </a:ext>
            </a:extLst>
          </p:cNvPr>
          <p:cNvSpPr/>
          <p:nvPr/>
        </p:nvSpPr>
        <p:spPr>
          <a:xfrm>
            <a:off x="3528537" y="5000175"/>
            <a:ext cx="752423" cy="2239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4884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A205B-C18E-B9BF-EEA4-6CC160586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E2A363-01DD-517E-FC2B-3D7CA4E585E5}"/>
              </a:ext>
            </a:extLst>
          </p:cNvPr>
          <p:cNvSpPr txBox="1"/>
          <p:nvPr/>
        </p:nvSpPr>
        <p:spPr>
          <a:xfrm>
            <a:off x="581191" y="4174315"/>
            <a:ext cx="10993549" cy="10668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4000" b="1"/>
              <a:t>Optimización de modelos predictivos mediante detección de outliers y drift</a:t>
            </a:r>
            <a:endParaRPr lang="en-US" sz="4000" b="1" cap="all" noProof="0">
              <a:ln w="3175" cmpd="sng">
                <a:noFill/>
              </a:ln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32391-B7E4-6BB3-5C4A-D5953E343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067" y="5444479"/>
            <a:ext cx="10993546" cy="52556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s-CL" sz="1000"/>
              <a:t>Proyecto de Grado Licenciatura en Ingeniería en Ciencia de Datos</a:t>
            </a:r>
          </a:p>
          <a:p>
            <a:pPr algn="ctr">
              <a:lnSpc>
                <a:spcPct val="90000"/>
              </a:lnSpc>
            </a:pPr>
            <a:r>
              <a:rPr lang="en-US" sz="1000" noProof="0"/>
              <a:t>Franco Chiappe</a:t>
            </a:r>
            <a:endParaRPr lang="en-US" sz="10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</a:endParaRPr>
          </a:p>
          <a:p>
            <a:pPr algn="ctr">
              <a:lnSpc>
                <a:spcPct val="90000"/>
              </a:lnSpc>
            </a:pPr>
            <a:r>
              <a:rPr lang="en-US" sz="1000" noProof="0"/>
              <a:t>Vicente Garay</a:t>
            </a:r>
            <a:endParaRPr lang="en-US" sz="1000" noProof="0">
              <a:ln>
                <a:solidFill>
                  <a:prstClr val="black">
                    <a:lumMod val="75000"/>
                    <a:lumOff val="25000"/>
                    <a:alpha val="10000"/>
                  </a:prstClr>
                </a:solidFill>
              </a:ln>
            </a:endParaRPr>
          </a:p>
          <a:p>
            <a:pPr algn="ctr">
              <a:lnSpc>
                <a:spcPct val="90000"/>
              </a:lnSpc>
            </a:pPr>
            <a:r>
              <a:rPr lang="en-US" sz="1000" noProof="0"/>
              <a:t>Ziyu Guo</a:t>
            </a:r>
          </a:p>
        </p:txBody>
      </p:sp>
      <p:pic>
        <p:nvPicPr>
          <p:cNvPr id="2" name="图片 2" descr="Ainwater - BlueTech Research">
            <a:extLst>
              <a:ext uri="{FF2B5EF4-FFF2-40B4-BE49-F238E27FC236}">
                <a16:creationId xmlns:a16="http://schemas.microsoft.com/office/drawing/2014/main" id="{DA572E46-B2A5-28DD-AA4A-73E1CA767C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887" y="723900"/>
            <a:ext cx="10150226" cy="299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81852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Ainwater">
      <a:dk1>
        <a:srgbClr val="3F4B55"/>
      </a:dk1>
      <a:lt1>
        <a:sysClr val="window" lastClr="FFFFFF"/>
      </a:lt1>
      <a:dk2>
        <a:srgbClr val="3F4B55"/>
      </a:dk2>
      <a:lt2>
        <a:srgbClr val="FFFFFF"/>
      </a:lt2>
      <a:accent1>
        <a:srgbClr val="2AA6DD"/>
      </a:accent1>
      <a:accent2>
        <a:srgbClr val="0066B2"/>
      </a:accent2>
      <a:accent3>
        <a:srgbClr val="1795D4"/>
      </a:accent3>
      <a:accent4>
        <a:srgbClr val="BFDDEE"/>
      </a:accent4>
      <a:accent5>
        <a:srgbClr val="9EC6DD"/>
      </a:accent5>
      <a:accent6>
        <a:srgbClr val="D9EAF4"/>
      </a:accent6>
      <a:hlink>
        <a:srgbClr val="2AA6DD"/>
      </a:hlink>
      <a:folHlink>
        <a:srgbClr val="0066B2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BD01260-BD54-4710-A9A3-0F94C99179AA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1387</TotalTime>
  <Words>970</Words>
  <Application>Microsoft Office PowerPoint</Application>
  <PresentationFormat>Widescreen</PresentationFormat>
  <Paragraphs>164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华文中宋</vt:lpstr>
      <vt:lpstr>Aptos</vt:lpstr>
      <vt:lpstr>Arial</vt:lpstr>
      <vt:lpstr>Calibri</vt:lpstr>
      <vt:lpstr>Gill Sans MT</vt:lpstr>
      <vt:lpstr>Wingdings 2</vt:lpstr>
      <vt:lpstr>Dividend</vt:lpstr>
      <vt:lpstr>PowerPoint Presentation</vt:lpstr>
      <vt:lpstr>INTELIGENCIA ARTIFICIAL PARA UNA GESTIÓN EFICIENTE Y SOSTENIBLE DEL AGUA</vt:lpstr>
      <vt:lpstr>Optimizar, predecir y controlar una planta de agua</vt:lpstr>
      <vt:lpstr>CONTROL MANUAL DE DATOS AFECTA LA CONFIABILIDAD DE LOS MODELOS</vt:lpstr>
      <vt:lpstr>DATOS: SERIES DE TIEMPO MULTIVARIABLES DE SENSORES EN PLANTAS DE TRATAMIENTO</vt:lpstr>
      <vt:lpstr>SISTEMA AUTOMÁTICO PARA EVALUAR LA CALIDAD DE DATOS Y MEJORAR LA CONFIABILIDAD DE LOS MODELOS</vt:lpstr>
      <vt:lpstr>c</vt:lpstr>
      <vt:lpstr>IMPLEMENTACIÓN DE MÉTODOS AUTOMÁTICOS PARA DETECTAR ANOMALÍAS EN SERIES DE TIEMPO</vt:lpstr>
      <vt:lpstr>DETECTAR DRIFT PERMITE MANTENER MODELOS ESTABLES Y EVITAR RETRAINING INNECESARIO</vt:lpstr>
      <vt:lpstr>PowerPoint Presentation</vt:lpstr>
      <vt:lpstr>Métodos estadísticos para medir diferencias de distribución</vt:lpstr>
      <vt:lpstr>PRÓXIMOS PASOS: INTEGRAR, VALIDAR Y MEDIR EL IMPACTO DE LA SOLUCIÓN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Franco Andrés Chiappe Donoso</dc:creator>
  <cp:lastModifiedBy>Franco Andrés Chiappe Donoso</cp:lastModifiedBy>
  <cp:revision>1</cp:revision>
  <dcterms:created xsi:type="dcterms:W3CDTF">2025-08-15T20:44:23Z</dcterms:created>
  <dcterms:modified xsi:type="dcterms:W3CDTF">2025-12-08T17:07:12Z</dcterms:modified>
</cp:coreProperties>
</file>