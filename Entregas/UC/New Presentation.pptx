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2" r:id="rId4"/>
    <p:sldId id="263" r:id="rId5"/>
    <p:sldId id="258" r:id="rId6"/>
    <p:sldId id="259" r:id="rId7"/>
    <p:sldId id="261" r:id="rId8"/>
    <p:sldId id="260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o Andrés Chiappe Donoso" userId="952ef6fb-7da9-433b-9cb5-ab1c1c91cce3" providerId="ADAL" clId="{D482683E-DF45-4BA1-B60E-919AB3CEA91E}"/>
    <pc:docChg chg="undo custSel modSld">
      <pc:chgData name="Franco Andrés Chiappe Donoso" userId="952ef6fb-7da9-433b-9cb5-ab1c1c91cce3" providerId="ADAL" clId="{D482683E-DF45-4BA1-B60E-919AB3CEA91E}" dt="2025-11-24T19:42:16.336" v="1" actId="20577"/>
      <pc:docMkLst>
        <pc:docMk/>
      </pc:docMkLst>
      <pc:sldChg chg="modSp mod">
        <pc:chgData name="Franco Andrés Chiappe Donoso" userId="952ef6fb-7da9-433b-9cb5-ab1c1c91cce3" providerId="ADAL" clId="{D482683E-DF45-4BA1-B60E-919AB3CEA91E}" dt="2025-11-24T19:42:16.336" v="1" actId="20577"/>
        <pc:sldMkLst>
          <pc:docMk/>
          <pc:sldMk cId="704265770" sldId="256"/>
        </pc:sldMkLst>
        <pc:spChg chg="mod">
          <ac:chgData name="Franco Andrés Chiappe Donoso" userId="952ef6fb-7da9-433b-9cb5-ab1c1c91cce3" providerId="ADAL" clId="{D482683E-DF45-4BA1-B60E-919AB3CEA91E}" dt="2025-11-24T19:42:16.336" v="1" actId="20577"/>
          <ac:spMkLst>
            <pc:docMk/>
            <pc:sldMk cId="704265770" sldId="256"/>
            <ac:spMk id="2" creationId="{521CB9B4-2F2D-7DF0-CF49-642A88830C5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426019-AE77-488C-A5EB-72DA0AB2005C}" type="datetimeFigureOut">
              <a:rPr lang="es-CL" smtClean="0"/>
              <a:t>24-11-2025</a:t>
            </a:fld>
            <a:endParaRPr lang="es-C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33EC91-205B-4DF5-81CD-D6CFCB536AF4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17963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7B1A0-33C5-D4F7-9DD5-959D05AD8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D6E3CC-9ADE-CB96-0ECA-93898E7BF0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334AFE-F90B-74B9-8A18-37AACA5799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EE9338-9B7B-F948-7667-15A4773865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3EC91-205B-4DF5-81CD-D6CFCB536AF4}" type="slidenum">
              <a:rPr lang="es-CL" smtClean="0"/>
              <a:t>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491964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20A16-03AE-24FB-FD0B-61DE6D53A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391559-0DBB-9E7D-903C-F2EF031D33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CBB791-B451-919B-0281-1291B4DE53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313278-0ED8-191E-7B96-99BAFB6D94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3EC91-205B-4DF5-81CD-D6CFCB536AF4}" type="slidenum">
              <a:rPr lang="es-CL" smtClean="0"/>
              <a:t>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049115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3EC91-205B-4DF5-81CD-D6CFCB536AF4}" type="slidenum">
              <a:rPr lang="es-CL" smtClean="0"/>
              <a:t>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659023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99C095-77F6-4A6A-F866-E6FEAD1F4128}"/>
              </a:ext>
            </a:extLst>
          </p:cNvPr>
          <p:cNvSpPr>
            <a:spLocks noChangeAspect="1"/>
          </p:cNvSpPr>
          <p:nvPr userDrawn="1"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E140CF-724F-3EFB-DE0A-0B861CBFC1E4}"/>
              </a:ext>
            </a:extLst>
          </p:cNvPr>
          <p:cNvSpPr>
            <a:spLocks noChangeAspect="1"/>
          </p:cNvSpPr>
          <p:nvPr userDrawn="1"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11/24/2025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56981F2-287B-4FF9-ADF9-BA62CF2D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23900"/>
            <a:ext cx="12192000" cy="61341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1CB9B4-2F2D-7DF0-CF49-642A88830C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723901"/>
            <a:ext cx="10993549" cy="142875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CL" sz="3100" b="1" dirty="0"/>
              <a:t>Optimización de modelos predictivos mediante detección de </a:t>
            </a:r>
            <a:r>
              <a:rPr lang="es-CL" sz="3100" b="1" dirty="0" err="1"/>
              <a:t>outliers</a:t>
            </a:r>
            <a:r>
              <a:rPr lang="es-CL" sz="3100" b="1" dirty="0"/>
              <a:t> y </a:t>
            </a:r>
            <a:r>
              <a:rPr lang="es-CL" sz="3100" b="1" dirty="0" err="1"/>
              <a:t>drift</a:t>
            </a:r>
            <a:br>
              <a:rPr lang="en-US" sz="3100" b="1" dirty="0">
                <a:ln w="3175" cmpd="sng">
                  <a:noFill/>
                </a:ln>
              </a:rPr>
            </a:br>
            <a:endParaRPr lang="es-CL" sz="31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D86C89-7F23-A41D-1AF2-CD30CC0401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1984124"/>
            <a:ext cx="10993546" cy="525565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s-CL" sz="1400" dirty="0"/>
              <a:t>Proyecto de Grado Licenciatura en Ingeniería en Ciencia de Datos</a:t>
            </a:r>
          </a:p>
          <a:p>
            <a:pPr>
              <a:lnSpc>
                <a:spcPct val="90000"/>
              </a:lnSpc>
            </a:pPr>
            <a:r>
              <a:rPr lang="en-US" sz="1400" dirty="0"/>
              <a:t>Franco Chiappe</a:t>
            </a:r>
            <a:endParaRPr lang="en-US" sz="1400" dirty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</a:endParaRPr>
          </a:p>
          <a:p>
            <a:pPr>
              <a:lnSpc>
                <a:spcPct val="90000"/>
              </a:lnSpc>
            </a:pPr>
            <a:r>
              <a:rPr lang="en-US" sz="1400" dirty="0"/>
              <a:t>Vicente Garay</a:t>
            </a:r>
            <a:endParaRPr lang="en-US" sz="1400" dirty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</a:endParaRPr>
          </a:p>
          <a:p>
            <a:pPr>
              <a:lnSpc>
                <a:spcPct val="90000"/>
              </a:lnSpc>
            </a:pPr>
            <a:r>
              <a:rPr lang="en-US" sz="1400" dirty="0"/>
              <a:t>Ziyu Guo</a:t>
            </a:r>
          </a:p>
          <a:p>
            <a:pPr>
              <a:lnSpc>
                <a:spcPct val="90000"/>
              </a:lnSpc>
            </a:pPr>
            <a:endParaRPr lang="es-CL" sz="1400" dirty="0"/>
          </a:p>
        </p:txBody>
      </p:sp>
      <p:pic>
        <p:nvPicPr>
          <p:cNvPr id="7" name="Picture 6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C02594E7-3556-1568-2237-2A9E4D19A2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457" y="2790605"/>
            <a:ext cx="10916463" cy="3356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265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9EACD-AACA-B889-ED35-E75003140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CL" dirty="0"/>
              <a:t>INTELIGENCIA ARTIFICIAL PARA UNA GESTIÓN EFICIENTE Y SOSTENIBLE DEL AGUA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52F15A-4531-D487-AD3A-D4D97E24B3E6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>
              <a:schemeClr val="accent1"/>
            </a:solidFill>
          </a:ln>
        </p:spPr>
        <p:txBody>
          <a:bodyPr/>
          <a:lstStyle/>
          <a:p>
            <a:pPr marL="305435" indent="-305435"/>
            <a:r>
              <a:rPr lang="es-CL" dirty="0">
                <a:solidFill>
                  <a:srgbClr val="004D99"/>
                </a:solidFill>
              </a:rPr>
              <a:t>Desarrolla software como servicio (SaaS) para optimización de plantas de tratamiento de aguas</a:t>
            </a:r>
            <a:endParaRPr lang="zh-CN" altLang="es-CL" dirty="0">
              <a:solidFill>
                <a:srgbClr val="004D99"/>
              </a:solidFill>
              <a:ea typeface="华文中宋"/>
            </a:endParaRPr>
          </a:p>
          <a:p>
            <a:pPr marL="305435" indent="-305435"/>
            <a:r>
              <a:rPr lang="es-CL" dirty="0"/>
              <a:t>Su tecnología se implementa en plantas que procesan más de un millón de m³ diarios</a:t>
            </a:r>
            <a:endParaRPr lang="es-CL" dirty="0">
              <a:solidFill>
                <a:srgbClr val="3F4B55"/>
              </a:solidFill>
            </a:endParaRPr>
          </a:p>
          <a:p>
            <a:pPr marL="305435" indent="-305435"/>
            <a:r>
              <a:rPr lang="es-CL" dirty="0"/>
              <a:t>Aplicaciones en agua potable, aguas residuales, desalinización, manufactura y comunidades rurales</a:t>
            </a:r>
          </a:p>
          <a:p>
            <a:pPr marL="305435" indent="-305435"/>
            <a:r>
              <a:rPr lang="es-CL" dirty="0"/>
              <a:t>Su plataforma Poseidón ya opera en más de 100 plantas y ha logrado reducir hasta un 30 % los costos operacionales</a:t>
            </a:r>
          </a:p>
          <a:p>
            <a:pPr marL="305435" indent="-305435"/>
            <a:endParaRPr lang="es-CL" dirty="0"/>
          </a:p>
          <a:p>
            <a:pPr marL="305435" indent="-305435"/>
            <a:endParaRPr lang="es-CL" dirty="0"/>
          </a:p>
          <a:p>
            <a:endParaRPr lang="es-CL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1170145-601F-E439-FB57-B906FE5B31C6}"/>
              </a:ext>
            </a:extLst>
          </p:cNvPr>
          <p:cNvSpPr txBox="1"/>
          <p:nvPr/>
        </p:nvSpPr>
        <p:spPr>
          <a:xfrm>
            <a:off x="3111204" y="4025651"/>
            <a:ext cx="1416614" cy="305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/>
              <a:t>1 Millón m³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58AFE67-87B7-98AC-F124-771BB8D38FE6}"/>
              </a:ext>
            </a:extLst>
          </p:cNvPr>
          <p:cNvSpPr txBox="1"/>
          <p:nvPr/>
        </p:nvSpPr>
        <p:spPr>
          <a:xfrm>
            <a:off x="6983870" y="4038785"/>
            <a:ext cx="2670991" cy="305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/>
              <a:t>400 Piscinas Olímpicas</a:t>
            </a:r>
          </a:p>
        </p:txBody>
      </p:sp>
      <p:pic>
        <p:nvPicPr>
          <p:cNvPr id="29" name="Picture 10" descr="Tokio inaugura su flamante centro acuático para los Juegos Olímpicos">
            <a:extLst>
              <a:ext uri="{FF2B5EF4-FFF2-40B4-BE49-F238E27FC236}">
                <a16:creationId xmlns:a16="http://schemas.microsoft.com/office/drawing/2014/main" id="{23E58734-54E8-2B06-81FF-FB72F29DA6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00" t="43236" r="11382"/>
          <a:stretch>
            <a:fillRect/>
          </a:stretch>
        </p:blipFill>
        <p:spPr bwMode="auto">
          <a:xfrm>
            <a:off x="6924512" y="4450203"/>
            <a:ext cx="2789707" cy="1340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Equals 29">
            <a:extLst>
              <a:ext uri="{FF2B5EF4-FFF2-40B4-BE49-F238E27FC236}">
                <a16:creationId xmlns:a16="http://schemas.microsoft.com/office/drawing/2014/main" id="{62C899C5-22F9-EC78-5A5F-BC1064DD6D09}"/>
              </a:ext>
            </a:extLst>
          </p:cNvPr>
          <p:cNvSpPr/>
          <p:nvPr/>
        </p:nvSpPr>
        <p:spPr>
          <a:xfrm>
            <a:off x="5361167" y="4677362"/>
            <a:ext cx="1005840" cy="755703"/>
          </a:xfrm>
          <a:prstGeom prst="math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solidFill>
                <a:schemeClr val="tx1"/>
              </a:solidFill>
            </a:endParaRPr>
          </a:p>
        </p:txBody>
      </p:sp>
      <p:pic>
        <p:nvPicPr>
          <p:cNvPr id="31" name="Picture 2" descr="Valoremos el agua - Santo Tomás en Línea">
            <a:extLst>
              <a:ext uri="{FF2B5EF4-FFF2-40B4-BE49-F238E27FC236}">
                <a16:creationId xmlns:a16="http://schemas.microsoft.com/office/drawing/2014/main" id="{6224431E-A781-B819-9649-B63A909C8D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147" y="4443339"/>
            <a:ext cx="2152726" cy="1345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4225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B682F-70C7-BD84-00EF-0E09C0C9C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6D571-4A91-063F-94EA-FBB22ECC1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s-CL" dirty="0">
                <a:solidFill>
                  <a:srgbClr val="FFFFFF"/>
                </a:solidFill>
              </a:rPr>
              <a:t>Optimizar, predecir y controlar una planta de agua</a:t>
            </a:r>
            <a:endParaRPr lang="es-C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7BA16-6636-8C0F-B8EB-F9FA148439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ln>
            <a:solidFill>
              <a:schemeClr val="accent1"/>
            </a:solidFill>
          </a:ln>
        </p:spPr>
        <p:txBody>
          <a:bodyPr/>
          <a:lstStyle/>
          <a:p>
            <a:r>
              <a:rPr lang="es-CL" dirty="0"/>
              <a:t>Integra monitoreo, análisis y control en tiempo real</a:t>
            </a:r>
          </a:p>
          <a:p>
            <a:r>
              <a:rPr lang="es-CL" dirty="0"/>
              <a:t>Centraliza la información de sensores, alarmas y reportes operativos</a:t>
            </a:r>
          </a:p>
          <a:p>
            <a:r>
              <a:rPr lang="es-CL" dirty="0"/>
              <a:t>Genera alertas automáticas ante valores fuera de rango o fallas de registro </a:t>
            </a:r>
          </a:p>
          <a:p>
            <a:r>
              <a:rPr lang="es-CL" dirty="0"/>
              <a:t>Permite decisiones basadas en datos, optimizando la operación de las plantas </a:t>
            </a:r>
          </a:p>
          <a:p>
            <a:pPr marL="305435" indent="-305435"/>
            <a:endParaRPr lang="es-CL" dirty="0"/>
          </a:p>
          <a:p>
            <a:endParaRPr lang="es-CL" dirty="0"/>
          </a:p>
        </p:txBody>
      </p:sp>
      <p:pic>
        <p:nvPicPr>
          <p:cNvPr id="5" name="Google Shape;256;p2">
            <a:extLst>
              <a:ext uri="{FF2B5EF4-FFF2-40B4-BE49-F238E27FC236}">
                <a16:creationId xmlns:a16="http://schemas.microsoft.com/office/drawing/2014/main" id="{EC75CDBD-17BA-7278-E675-89897991D1F6}"/>
              </a:ext>
            </a:extLst>
          </p:cNvPr>
          <p:cNvPicPr preferRelativeResize="0">
            <a:picLocks noGrp="1"/>
          </p:cNvPicPr>
          <p:nvPr>
            <p:ph sz="half" idx="2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88419" y="2228003"/>
            <a:ext cx="5422388" cy="363304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67390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525DD-1800-256C-E074-B3CAB3622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DAA3B-D230-B319-1EEB-8E51516D6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CONTROL MANUAL DE DATOS AFECTA LA CONFIABILIDAD DE LOS MODELOS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519756-4B6F-9D95-6B8C-67139674A4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ln>
            <a:solidFill>
              <a:schemeClr val="accent1"/>
            </a:solidFill>
          </a:ln>
        </p:spPr>
        <p:txBody>
          <a:bodyPr/>
          <a:lstStyle/>
          <a:p>
            <a:pPr>
              <a:buClr>
                <a:srgbClr val="004D99"/>
              </a:buClr>
            </a:pPr>
            <a:r>
              <a:rPr lang="es-CL" dirty="0"/>
              <a:t>El control de calidad de los datos es actualmente manual y reactivo</a:t>
            </a:r>
          </a:p>
          <a:p>
            <a:pPr>
              <a:buClr>
                <a:srgbClr val="004D99"/>
              </a:buClr>
            </a:pPr>
            <a:r>
              <a:rPr lang="es-CL" dirty="0"/>
              <a:t>No existen sistemas automáticos para detectar anomalías o </a:t>
            </a:r>
            <a:r>
              <a:rPr lang="es-CL" dirty="0" err="1"/>
              <a:t>drift</a:t>
            </a:r>
            <a:r>
              <a:rPr lang="es-CL" dirty="0"/>
              <a:t> en los sensores</a:t>
            </a:r>
          </a:p>
          <a:p>
            <a:pPr>
              <a:buClr>
                <a:srgbClr val="004D99"/>
              </a:buClr>
            </a:pPr>
            <a:r>
              <a:rPr lang="es-CL" dirty="0"/>
              <a:t>En la práctica, los modelos pierden precisión y requieren reentrenamientos frecuentes</a:t>
            </a:r>
          </a:p>
          <a:p>
            <a:pPr>
              <a:buClr>
                <a:srgbClr val="004D99"/>
              </a:buClr>
            </a:pPr>
            <a:r>
              <a:rPr lang="es-CL" dirty="0"/>
              <a:t>Esto genera menor confiabilidad en los modelos predictivos y mayores costos operativos</a:t>
            </a:r>
          </a:p>
          <a:p>
            <a:pPr>
              <a:buClr>
                <a:srgbClr val="004D99"/>
              </a:buClr>
            </a:pPr>
            <a:endParaRPr lang="es-CL" dirty="0"/>
          </a:p>
          <a:p>
            <a:endParaRPr lang="es-CL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CB3118D-947D-62DD-E3B9-49BA7B284EF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287784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DBF39-5CCF-8AFE-0966-4260E1C5D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CL" dirty="0"/>
              <a:t>CONTROL MANUAL DE DATOS AFECTA LA CONFIABILIDAD DE LOS MODELOS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7C1DEF-F180-3B21-56B2-3E445AD27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982553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53F9B-058A-9A8C-3A53-B5A37EB1D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endParaRPr lang="es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7F313-C4A5-01B0-F1B7-4EFA9260FF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271263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CDB82-74CA-53DA-A6B8-5EB791347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19AAC9-67BB-C596-B349-CA26AB7B8F4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285DAD-CD53-1C07-9FB6-8CCF150EB42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07677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9CEFB-45A2-B0B0-40E1-8FE0A405C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99751E-BE03-AC97-695F-E61D7F4E20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63EE98-1B9C-1ADB-F84C-45C98C344C4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C97F60-26A9-771B-5BF9-E8EE91387A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16D09C-9123-2EB0-9450-F61270970532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56520545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Custom 6">
      <a:dk1>
        <a:srgbClr val="333333"/>
      </a:dk1>
      <a:lt1>
        <a:srgbClr val="FFFFFF"/>
      </a:lt1>
      <a:dk2>
        <a:srgbClr val="004D99"/>
      </a:dk2>
      <a:lt2>
        <a:srgbClr val="F2F2F2"/>
      </a:lt2>
      <a:accent1>
        <a:srgbClr val="004D99"/>
      </a:accent1>
      <a:accent2>
        <a:srgbClr val="004D99"/>
      </a:accent2>
      <a:accent3>
        <a:srgbClr val="2196F3"/>
      </a:accent3>
      <a:accent4>
        <a:srgbClr val="90A4AE"/>
      </a:accent4>
      <a:accent5>
        <a:srgbClr val="B0BEC5"/>
      </a:accent5>
      <a:accent6>
        <a:srgbClr val="E3F2FD"/>
      </a:accent6>
      <a:hlink>
        <a:srgbClr val="1565C0"/>
      </a:hlink>
      <a:folHlink>
        <a:srgbClr val="5C6BC0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71</TotalTime>
  <Words>231</Words>
  <Application>Microsoft Office PowerPoint</Application>
  <PresentationFormat>Widescreen</PresentationFormat>
  <Paragraphs>27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华文中宋</vt:lpstr>
      <vt:lpstr>Aptos</vt:lpstr>
      <vt:lpstr>Gill Sans MT</vt:lpstr>
      <vt:lpstr>Wingdings 2</vt:lpstr>
      <vt:lpstr>Dividend</vt:lpstr>
      <vt:lpstr>Optimización de modelos predictivos mediante detección de outliers y drift </vt:lpstr>
      <vt:lpstr>INTELIGENCIA ARTIFICIAL PARA UNA GESTIÓN EFICIENTE Y SOSTENIBLE DEL AGUA</vt:lpstr>
      <vt:lpstr>Optimizar, predecir y controlar una planta de agua</vt:lpstr>
      <vt:lpstr>CONTROL MANUAL DE DATOS AFECTA LA CONFIABILIDAD DE LOS MODELOS</vt:lpstr>
      <vt:lpstr>CONTROL MANUAL DE DATOS AFECTA LA CONFIABILIDAD DE LOS MODELOS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Franco Andrés Chiappe Donoso</dc:creator>
  <cp:lastModifiedBy>Franco Andrés Chiappe Donoso</cp:lastModifiedBy>
  <cp:revision>1</cp:revision>
  <dcterms:created xsi:type="dcterms:W3CDTF">2025-11-07T16:04:08Z</dcterms:created>
  <dcterms:modified xsi:type="dcterms:W3CDTF">2025-11-24T19:42:17Z</dcterms:modified>
</cp:coreProperties>
</file>